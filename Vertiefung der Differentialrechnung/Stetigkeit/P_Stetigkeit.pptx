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2" r:id="rId2"/>
    <p:sldId id="293" r:id="rId3"/>
    <p:sldId id="295" r:id="rId4"/>
    <p:sldId id="298" r:id="rId5"/>
    <p:sldId id="299" r:id="rId6"/>
    <p:sldId id="300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104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38"/>
    <p:restoredTop sz="94863"/>
  </p:normalViewPr>
  <p:slideViewPr>
    <p:cSldViewPr snapToGrid="0" snapToObjects="1">
      <p:cViewPr varScale="1">
        <p:scale>
          <a:sx n="120" d="100"/>
          <a:sy n="120" d="100"/>
        </p:scale>
        <p:origin x="139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B3D77-A96E-1045-A472-ACCFBED8BB46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3213E-B466-E74A-AA6B-7CE5494FBAD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999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A23E6-6197-0D45-A507-51F7C9CB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84521A-5E66-784A-9D61-B6BC649FC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A9B568-650B-FE45-8850-2042D55D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060324-016E-574F-992B-C5F23126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24EB4-97DC-FB42-98C9-FBAB497A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516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43DCC4-4C66-FE4D-B0A4-FA84A8DB9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A2B100-C41D-BC49-9D9E-7EEBBF35F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FAB261-89F3-6A41-9ADC-63F7B354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6ECF11-0AE3-AB49-A9A0-D64BE968B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5CCD44-32D6-AA40-8548-4836B7DF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9400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F5A7C-A2EA-9F42-8641-65EAFB7F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7790CC-E3AF-EE43-BEDA-75C5AA70F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2E7D5D-72D9-AE42-867A-41EE64AE2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AFB8F8-D411-014D-8C47-635B174D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4626C6-8BCF-7D40-8AC6-A7B81B2B4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153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7BC6AE-FDFB-E94F-BB13-FB5EC94F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09584E-6B56-DB46-92C1-9B8A5E24C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E01E97-FC0D-F642-B3FE-9560FEA70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D75D49-C757-9145-BAFA-AEF3F4A3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82C994-52BD-B543-ABF4-849EDAB0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7E98EC-721A-DA4D-BEC5-81A90377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506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5A7FF5-024F-7247-879F-56460C58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ED9920-7174-CE41-96C3-46AB9728B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C3132F-592B-E149-B3F5-BC074A167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605A727-90D5-2C4E-A6E7-2C75C1533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52A31A-0B2A-FF4A-8651-66A6D9A3A1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3CF0F1-DB04-8343-9D9F-9C04DB13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8D1032-991C-B446-A228-08958702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78A344C-C74C-0F44-828D-21AB6B913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85737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F35F6-F86A-6A4C-A311-2FDC77C2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C161B36-B232-9B42-8989-425A7D11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0CEF9-35E8-2C4A-96BA-596D3F46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6B81DE-EB56-1846-9B23-5A4C6DC1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697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53356BC-A1E2-434D-A56F-3CDBB61AE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4B4507D-12E7-C542-A7F9-A9A43455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D3345D-7549-9148-99DC-D8268EB0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6725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ED394-8E4C-C340-90C6-1AEAB4EC0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8C7FAE-C794-8241-B787-386C5D851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071C23-977D-4F44-AA4B-4C10DCD2D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5EF7EB-D89D-BC43-AA29-E6EBB9E9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1BEA55-384A-0345-ABE8-EF5EDB7D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B73415-9EC4-8042-8F16-C990C3B7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90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5BB6A-0D45-C24A-819D-E490A6A6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D4673E-890B-6D4F-8571-5DAF28BD99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69D1C1-3A7C-2345-BD37-44556BB82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2A872F-98AF-7341-A8E6-75E7876A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185872-442C-5542-85DA-FB9627A30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5FBB23-77F1-324B-A33B-C47D23E4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16819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9A4DA-1CA7-3342-90CB-26950EB75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DE93F1-5691-F540-854C-54D372C13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B19895-9DFF-7F4F-BDBF-0D1A5B357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7AA4C7-56D6-4146-8C9B-C71B8757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A6CF19-778E-C14C-B585-CBDC1264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1055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8F48358-9AB9-FD44-A63B-3CACD3BBE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652109-6F44-9B4D-8C4F-B8E7B67E9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3A9F50-D32D-7345-96A8-59203825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4F994F-BD39-E043-8861-193B16DF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2C11EF-2EF3-EE42-BE9C-B727EBD9A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763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5FBE73-8C8F-AE44-A526-5E3B661B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BF4092-22D4-1C4B-85AC-5BBF8D7C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C2256E-ADC5-D64C-AD68-8360AA1DE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6971B-A6B8-BD4E-B0A2-A102A34232A7}" type="datetimeFigureOut">
              <a:rPr lang="de-DE" smtClean="0"/>
              <a:t>07.09.26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26FA1D-F1FE-7247-9A3B-07BC91566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89332A-7C71-F949-80A5-711F18EFC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934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3ED8D9AD-675D-032E-15D9-72689F944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1122363"/>
            <a:ext cx="11535508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sz="67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Stetigkeit</a:t>
            </a:r>
            <a:br>
              <a:rPr lang="de-DE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de-DE" sz="4400" dirty="0">
                <a:latin typeface="Bahnschrift" panose="020B0502040204020203" pitchFamily="34" charset="0"/>
                <a:ea typeface="Roboto" panose="02000000000000000000" pitchFamily="2" charset="0"/>
                <a:cs typeface="Roboto" panose="02000000000000000000" pitchFamily="2" charset="0"/>
              </a:rPr>
              <a:t>Wann verläuft ein Graph ohne Sprung?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9AAECF12-4078-AC03-FC24-B8CD76CE6408}"/>
              </a:ext>
            </a:extLst>
          </p:cNvPr>
          <p:cNvCxnSpPr>
            <a:cxnSpLocks/>
          </p:cNvCxnSpPr>
          <p:nvPr/>
        </p:nvCxnSpPr>
        <p:spPr>
          <a:xfrm>
            <a:off x="2196611" y="2565252"/>
            <a:ext cx="9196603" cy="0"/>
          </a:xfrm>
          <a:prstGeom prst="line">
            <a:avLst/>
          </a:prstGeom>
          <a:ln w="28575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692425E3-FF97-5BDE-2C28-D5657F2D06BD}"/>
              </a:ext>
            </a:extLst>
          </p:cNvPr>
          <p:cNvSpPr/>
          <p:nvPr/>
        </p:nvSpPr>
        <p:spPr>
          <a:xfrm rot="1136847">
            <a:off x="10632533" y="5427310"/>
            <a:ext cx="2696308" cy="18112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E592626-D435-803A-76A1-CDFB2EB7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595" y="5944336"/>
            <a:ext cx="913092" cy="388581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A1CC6754-56FE-DD8A-788C-73466ACC0861}"/>
              </a:ext>
            </a:extLst>
          </p:cNvPr>
          <p:cNvSpPr/>
          <p:nvPr/>
        </p:nvSpPr>
        <p:spPr>
          <a:xfrm rot="2621423">
            <a:off x="9243459" y="6416111"/>
            <a:ext cx="2696308" cy="1811215"/>
          </a:xfrm>
          <a:prstGeom prst="rect">
            <a:avLst/>
          </a:prstGeom>
          <a:solidFill>
            <a:srgbClr val="C71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5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4AD0-9866-B3B6-69B5-90C1B1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2AB782B-CE69-19BB-DF4F-784CB227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Erinnerung: die Nahtstelle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9CED610-D4E9-20F7-6EE7-726901F219AF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20D7655-6591-9C17-FB75-8161B2E1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19C3385-100B-89DE-F1BC-CBB8BA1D6A82}"/>
                  </a:ext>
                </a:extLst>
              </p:cNvPr>
              <p:cNvSpPr txBox="1"/>
              <p:nvPr/>
            </p:nvSpPr>
            <p:spPr>
              <a:xfrm>
                <a:off x="243908" y="775671"/>
                <a:ext cx="5982347" cy="5063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000"/>
                  </a:lnSpc>
                </a:pPr>
                <a:r>
                  <a:rPr lang="en-US" sz="2000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Eine </a:t>
                </a:r>
                <a:r>
                  <a:rPr lang="en-US" sz="2000" b="1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abschnittsweise definierte Funktion</a:t>
                </a:r>
                <a:r>
                  <a:rPr lang="en-US" sz="2000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ist aus mehreren Teilstücken zusammengesetzt.</a:t>
                </a:r>
              </a:p>
              <a:p>
                <a:pPr marL="285750" indent="-285750">
                  <a:lnSpc>
                    <a:spcPts val="3000"/>
                  </a:lnSpc>
                  <a:buFont typeface="Wingdings" panose="05000000000000000000" pitchFamily="2" charset="2"/>
                  <a:buChar char="v"/>
                </a:pPr>
                <a:endParaRPr lang="en-US" sz="20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</a:endParaRPr>
              </a:p>
              <a:p>
                <a:pPr>
                  <a:lnSpc>
                    <a:spcPts val="3000"/>
                  </a:lnSpc>
                </a:pPr>
                <a:r>
                  <a:rPr lang="en-US" sz="2000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</a:rPr>
                  <a:t>Dort, wo zwei </a:t>
                </a:r>
                <a:r>
                  <a:rPr lang="en-US" sz="2000" dirty="0" err="1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</a:rPr>
                  <a:t>Teilstücke</a:t>
                </a:r>
                <a:r>
                  <a:rPr lang="en-US" sz="2000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</a:rPr>
                  <a:t> </a:t>
                </a:r>
                <a:r>
                  <a:rPr lang="en-US" sz="200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</a:rPr>
                  <a:t>aufeinandertreffen</a:t>
                </a:r>
                <a:r>
                  <a:rPr lang="en-US" sz="2000" dirty="0">
                    <a:solidFill>
                      <a:srgbClr val="1D1D1F"/>
                    </a:solidFill>
                    <a:latin typeface="Cambria" pitchFamily="34" charset="0"/>
                    <a:ea typeface="Cambria" pitchFamily="34" charset="-122"/>
                  </a:rPr>
                  <a:t>, liegt die </a:t>
                </a:r>
                <a:r>
                  <a:rPr lang="en-US" sz="2000" b="1" dirty="0">
                    <a:solidFill>
                      <a:srgbClr val="C00000"/>
                    </a:solidFill>
                    <a:latin typeface="Cambria" pitchFamily="34" charset="0"/>
                    <a:ea typeface="Cambria" pitchFamily="34" charset="-122"/>
                  </a:rPr>
                  <a:t>Nahtstelle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de-DE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𝒙</m:t>
                        </m:r>
                      </m:e>
                      <m:sub>
                        <m:r>
                          <a:rPr lang="de-DE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de-DE" sz="2000" dirty="0"/>
                  <a:t>.</a:t>
                </a:r>
              </a:p>
              <a:p>
                <a:pPr marL="285750" indent="-285750">
                  <a:lnSpc>
                    <a:spcPts val="3000"/>
                  </a:lnSpc>
                  <a:buFont typeface="Wingdings" panose="05000000000000000000" pitchFamily="2" charset="2"/>
                  <a:buChar char="v"/>
                </a:pPr>
                <a:endParaRPr lang="de-DE" sz="2000" b="1" dirty="0"/>
              </a:p>
              <a:p>
                <a:pPr>
                  <a:lnSpc>
                    <a:spcPts val="3000"/>
                  </a:lnSpc>
                </a:pPr>
                <a:r>
                  <a:rPr lang="de-DE" sz="2000" b="1" dirty="0"/>
                  <a:t>An der Nahtstelle sind zwei Fälle möglich: </a:t>
                </a:r>
              </a:p>
              <a:p>
                <a:pPr marL="285750" indent="-285750">
                  <a:lnSpc>
                    <a:spcPts val="3000"/>
                  </a:lnSpc>
                  <a:buFont typeface="Wingdings" panose="05000000000000000000" pitchFamily="2" charset="2"/>
                  <a:buChar char="v"/>
                </a:pPr>
                <a:endParaRPr lang="de-DE" sz="2000" dirty="0"/>
              </a:p>
              <a:p>
                <a:pPr marL="800100" lvl="1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de-DE" sz="2000" dirty="0">
                    <a:solidFill>
                      <a:schemeClr val="accent6">
                        <a:lumMod val="75000"/>
                      </a:schemeClr>
                    </a:solidFill>
                  </a:rPr>
                  <a:t>Die Teilstücke passen zusammen </a:t>
                </a:r>
                <a:br>
                  <a:rPr lang="de-DE" sz="20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de-DE" sz="2000" dirty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de-DE" sz="2000" b="1" dirty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kein Sprung / stetig</a:t>
                </a:r>
              </a:p>
              <a:p>
                <a:pPr marL="800100" lvl="1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endParaRPr lang="de-DE" sz="2000" dirty="0">
                  <a:sym typeface="Wingdings" panose="05000000000000000000" pitchFamily="2" charset="2"/>
                </a:endParaRPr>
              </a:p>
              <a:p>
                <a:pPr marL="800100" lvl="1" indent="-342900">
                  <a:lnSpc>
                    <a:spcPts val="3000"/>
                  </a:lnSpc>
                  <a:buFont typeface="Arial" panose="020B0604020202020204" pitchFamily="34" charset="0"/>
                  <a:buChar char="•"/>
                </a:pPr>
                <a:r>
                  <a:rPr lang="de-DE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Es entsteht eine Lücke</a:t>
                </a:r>
                <a:br>
                  <a:rPr lang="de-DE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</a:br>
                <a:r>
                  <a:rPr lang="de-DE" sz="2000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de-DE" sz="2000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Sprung / unstetig</a:t>
                </a:r>
                <a:endParaRPr lang="de-DE" sz="20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519C3385-100B-89DE-F1BC-CBB8BA1D6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08" y="775671"/>
                <a:ext cx="5982347" cy="5063246"/>
              </a:xfrm>
              <a:prstGeom prst="rect">
                <a:avLst/>
              </a:prstGeom>
              <a:blipFill>
                <a:blip r:embed="rId3"/>
                <a:stretch>
                  <a:fillRect l="-1059" r="-424" b="-1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FD8F9E12-D017-37D0-D353-AED454997C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" name="Image 1" descr="g_concept.png">
            <a:extLst>
              <a:ext uri="{FF2B5EF4-FFF2-40B4-BE49-F238E27FC236}">
                <a16:creationId xmlns:a16="http://schemas.microsoft.com/office/drawing/2014/main" id="{6247B48E-0E04-47C4-B2DE-542E836238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099"/>
          <a:stretch/>
        </p:blipFill>
        <p:spPr>
          <a:xfrm>
            <a:off x="9169929" y="1129186"/>
            <a:ext cx="2778163" cy="2559597"/>
          </a:xfrm>
          <a:prstGeom prst="rect">
            <a:avLst/>
          </a:prstGeom>
        </p:spPr>
      </p:pic>
      <p:pic>
        <p:nvPicPr>
          <p:cNvPr id="11" name="Image 1" descr="g_concept.png">
            <a:extLst>
              <a:ext uri="{FF2B5EF4-FFF2-40B4-BE49-F238E27FC236}">
                <a16:creationId xmlns:a16="http://schemas.microsoft.com/office/drawing/2014/main" id="{175E1EA1-B953-4D7F-98B7-3473498119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634"/>
          <a:stretch/>
        </p:blipFill>
        <p:spPr>
          <a:xfrm>
            <a:off x="6475543" y="1129186"/>
            <a:ext cx="2694386" cy="255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35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4AD0-9866-B3B6-69B5-90C1B1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2AB782B-CE69-19BB-DF4F-784CB227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Beispiel 1 – kein Sprung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9CED610-D4E9-20F7-6EE7-726901F219AF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20D7655-6591-9C17-FB75-8161B2E1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FD8F9E12-D017-37D0-D353-AED454997C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7504E27-1AC9-4A71-99D6-886387B1D7CA}"/>
              </a:ext>
            </a:extLst>
          </p:cNvPr>
          <p:cNvSpPr/>
          <p:nvPr/>
        </p:nvSpPr>
        <p:spPr>
          <a:xfrm>
            <a:off x="685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B650F06-2C82-4F4C-A3D1-D86C0C3A3326}"/>
              </a:ext>
            </a:extLst>
          </p:cNvPr>
          <p:cNvSpPr/>
          <p:nvPr/>
        </p:nvSpPr>
        <p:spPr>
          <a:xfrm>
            <a:off x="685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3F023E5-2C51-45F1-8725-D2951E6046F3}"/>
                  </a:ext>
                </a:extLst>
              </p:cNvPr>
              <p:cNvSpPr txBox="1"/>
              <p:nvPr/>
            </p:nvSpPr>
            <p:spPr>
              <a:xfrm>
                <a:off x="362277" y="2828835"/>
                <a:ext cx="2486450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" pitchFamily="34" charset="-122"/>
                    <a:cs typeface="Cambria" pitchFamily="34" charset="-120"/>
                  </a:rPr>
                  <a:t>Nahtstelle: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𝒐</m:t>
                        </m:r>
                      </m:sub>
                    </m:sSub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:endParaRPr lang="en-US" b="1" i="1" dirty="0">
                  <a:solidFill>
                    <a:srgbClr val="2E7D32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en-US" b="1" i="1" dirty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₁(</m:t>
                    </m:r>
                    <m:r>
                      <a:rPr lang="en-US" b="1" i="1" dirty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b="1" i="1" dirty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 = 1 + 1 = 2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b="1" i="1" dirty="0" smtClean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𝟐</m:t>
                        </m:r>
                      </m:sub>
                    </m:sSub>
                    <m:r>
                      <a:rPr lang="en-US" b="1" i="1" dirty="0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(</m:t>
                    </m:r>
                    <m:r>
                      <a:rPr lang="en-US" b="1" i="1" dirty="0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 = 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1</m:t>
                        </m:r>
                      </m:e>
                      <m:sup>
                        <m:r>
                          <a:rPr lang="de-DE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 + 1 = 2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3F023E5-2C51-45F1-8725-D2951E604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77" y="2828835"/>
                <a:ext cx="2486450" cy="1477328"/>
              </a:xfrm>
              <a:prstGeom prst="rect">
                <a:avLst/>
              </a:prstGeom>
              <a:blipFill>
                <a:blip r:embed="rId3"/>
                <a:stretch>
                  <a:fillRect l="-2030" t="-1709" b="-34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9ADD1260-D6EE-4B6D-A13D-A79D6651479C}"/>
                  </a:ext>
                </a:extLst>
              </p:cNvPr>
              <p:cNvSpPr/>
              <p:nvPr/>
            </p:nvSpPr>
            <p:spPr>
              <a:xfrm>
                <a:off x="150484" y="1002695"/>
                <a:ext cx="6096000" cy="71019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d>
                      <m:dPr>
                        <m:ctrlPr>
                          <a:rPr lang="de-DE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</m:d>
                    <m:r>
                      <a:rPr lang="en-US" i="1" dirty="0">
                        <a:solidFill>
                          <a:srgbClr val="1D1D1F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solidFill>
                                  <a:srgbClr val="1D1D1F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+1</m:t>
                              </m:r>
                            </m:e>
                            <m:e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≤1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dirty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dirty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dirty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de-DE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de-DE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de-DE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+1</m:t>
                              </m:r>
                            </m:e>
                            <m:e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&gt;1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  <m:r>
                          <a:rPr lang="de-DE" b="0" i="1" dirty="0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9ADD1260-D6EE-4B6D-A13D-A79D66514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84" y="1002695"/>
                <a:ext cx="6096000" cy="7101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Image 1" descr="g_example_lin_quad.png">
            <a:extLst>
              <a:ext uri="{FF2B5EF4-FFF2-40B4-BE49-F238E27FC236}">
                <a16:creationId xmlns:a16="http://schemas.microsoft.com/office/drawing/2014/main" id="{5534F654-3575-4D6F-B8FE-224ADB619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768" y="933055"/>
            <a:ext cx="4482937" cy="3018890"/>
          </a:xfrm>
          <a:prstGeom prst="rect">
            <a:avLst/>
          </a:prstGeom>
        </p:spPr>
      </p:pic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40ECA773-631D-433D-A901-7CD2568DD1C8}"/>
              </a:ext>
            </a:extLst>
          </p:cNvPr>
          <p:cNvGrpSpPr/>
          <p:nvPr/>
        </p:nvGrpSpPr>
        <p:grpSpPr>
          <a:xfrm>
            <a:off x="8255355" y="982230"/>
            <a:ext cx="3531476" cy="2616066"/>
            <a:chOff x="4636008" y="1010411"/>
            <a:chExt cx="3812758" cy="2678365"/>
          </a:xfrm>
        </p:grpSpPr>
        <p:sp>
          <p:nvSpPr>
            <p:cNvPr id="47" name="Shape 18">
              <a:extLst>
                <a:ext uri="{FF2B5EF4-FFF2-40B4-BE49-F238E27FC236}">
                  <a16:creationId xmlns:a16="http://schemas.microsoft.com/office/drawing/2014/main" id="{228FCF54-C93E-4750-92B5-8F19003720E8}"/>
                </a:ext>
              </a:extLst>
            </p:cNvPr>
            <p:cNvSpPr/>
            <p:nvPr/>
          </p:nvSpPr>
          <p:spPr>
            <a:xfrm>
              <a:off x="4636008" y="1010411"/>
              <a:ext cx="3812758" cy="2678365"/>
            </a:xfrm>
            <a:prstGeom prst="roundRect">
              <a:avLst>
                <a:gd name="adj" fmla="val 3019"/>
              </a:avLst>
            </a:prstGeom>
            <a:solidFill>
              <a:srgbClr val="FBEEF0"/>
            </a:solidFill>
            <a:ln w="12700">
              <a:solidFill>
                <a:srgbClr val="C8102E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19">
              <a:extLst>
                <a:ext uri="{FF2B5EF4-FFF2-40B4-BE49-F238E27FC236}">
                  <a16:creationId xmlns:a16="http://schemas.microsoft.com/office/drawing/2014/main" id="{299FA3EE-90CC-4C09-B2CA-8D647F4A4CE8}"/>
                </a:ext>
              </a:extLst>
            </p:cNvPr>
            <p:cNvSpPr/>
            <p:nvPr/>
          </p:nvSpPr>
          <p:spPr>
            <a:xfrm>
              <a:off x="4983480" y="1298448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000" b="1" dirty="0">
                  <a:solidFill>
                    <a:srgbClr val="C8102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Bedingung</a:t>
              </a:r>
              <a:endParaRPr lang="en-US" sz="2000" dirty="0"/>
            </a:p>
          </p:txBody>
        </p:sp>
        <p:sp>
          <p:nvSpPr>
            <p:cNvPr id="49" name="Text 20">
              <a:extLst>
                <a:ext uri="{FF2B5EF4-FFF2-40B4-BE49-F238E27FC236}">
                  <a16:creationId xmlns:a16="http://schemas.microsoft.com/office/drawing/2014/main" id="{40F39F12-2F0B-4CD7-A263-44C8FD8DDEFC}"/>
                </a:ext>
              </a:extLst>
            </p:cNvPr>
            <p:cNvSpPr/>
            <p:nvPr/>
          </p:nvSpPr>
          <p:spPr>
            <a:xfrm>
              <a:off x="4983480" y="1755648"/>
              <a:ext cx="3383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f₁(x₀) = f₂(x₀)</a:t>
              </a:r>
              <a:r>
                <a:rPr lang="en-US" sz="1700" b="1" dirty="0">
                  <a:solidFill>
                    <a:srgbClr val="1B5E2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→  kein Sprung</a:t>
              </a:r>
              <a:endParaRPr lang="en-US" sz="1700" dirty="0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4DA94D22-D1A6-4AA2-92B5-EDC23E13EE4A}"/>
                </a:ext>
              </a:extLst>
            </p:cNvPr>
            <p:cNvSpPr/>
            <p:nvPr/>
          </p:nvSpPr>
          <p:spPr>
            <a:xfrm>
              <a:off x="4983480" y="2185416"/>
              <a:ext cx="33832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i="1" dirty="0">
                  <a:solidFill>
                    <a:srgbClr val="6B6B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(die Funktion ist stetig)</a:t>
              </a:r>
              <a:endParaRPr lang="en-US" sz="1300" dirty="0"/>
            </a:p>
          </p:txBody>
        </p:sp>
        <p:sp>
          <p:nvSpPr>
            <p:cNvPr id="51" name="Text 22">
              <a:extLst>
                <a:ext uri="{FF2B5EF4-FFF2-40B4-BE49-F238E27FC236}">
                  <a16:creationId xmlns:a16="http://schemas.microsoft.com/office/drawing/2014/main" id="{E7B62428-9940-4B47-8485-CB44CD1558CE}"/>
                </a:ext>
              </a:extLst>
            </p:cNvPr>
            <p:cNvSpPr/>
            <p:nvPr/>
          </p:nvSpPr>
          <p:spPr>
            <a:xfrm>
              <a:off x="4983480" y="2624328"/>
              <a:ext cx="3383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f₁(x₀) ≠ f₂(x₀)</a:t>
              </a:r>
              <a:r>
                <a:rPr lang="en-US" sz="1700" b="1" dirty="0">
                  <a:solidFill>
                    <a:srgbClr val="B0002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→  Sprung</a:t>
              </a:r>
              <a:endParaRPr lang="en-US" sz="1700" dirty="0"/>
            </a:p>
          </p:txBody>
        </p:sp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E1545C64-11DE-4C27-A8C4-9574B97A14E3}"/>
                </a:ext>
              </a:extLst>
            </p:cNvPr>
            <p:cNvSpPr/>
            <p:nvPr/>
          </p:nvSpPr>
          <p:spPr>
            <a:xfrm>
              <a:off x="4983480" y="3054096"/>
              <a:ext cx="33832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i="1" dirty="0">
                  <a:solidFill>
                    <a:srgbClr val="6B6B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(die Funktion ist nicht stetig)</a:t>
              </a:r>
              <a:endParaRPr lang="en-US" sz="1300" dirty="0"/>
            </a:p>
          </p:txBody>
        </p:sp>
      </p:grpSp>
      <p:sp>
        <p:nvSpPr>
          <p:cNvPr id="53" name="Shape 12">
            <a:extLst>
              <a:ext uri="{FF2B5EF4-FFF2-40B4-BE49-F238E27FC236}">
                <a16:creationId xmlns:a16="http://schemas.microsoft.com/office/drawing/2014/main" id="{E5B1304A-C64A-44A4-A24B-4FF4D8FEE252}"/>
              </a:ext>
            </a:extLst>
          </p:cNvPr>
          <p:cNvSpPr/>
          <p:nvPr/>
        </p:nvSpPr>
        <p:spPr>
          <a:xfrm>
            <a:off x="347472" y="4599935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 13">
                <a:extLst>
                  <a:ext uri="{FF2B5EF4-FFF2-40B4-BE49-F238E27FC236}">
                    <a16:creationId xmlns:a16="http://schemas.microsoft.com/office/drawing/2014/main" id="{F1D386C6-0D7A-4B1F-8C32-857E8CABB844}"/>
                  </a:ext>
                </a:extLst>
              </p:cNvPr>
              <p:cNvSpPr/>
              <p:nvPr/>
            </p:nvSpPr>
            <p:spPr>
              <a:xfrm>
                <a:off x="512064" y="4599935"/>
                <a:ext cx="429768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 xmlns:m="http://schemas.openxmlformats.org/officeDocument/2006/math">
                    <m:r>
                      <a:rPr lang="en-US" sz="1500" b="1" i="1" dirty="0" smtClean="0">
                        <a:solidFill>
                          <a:srgbClr val="1B5E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en-US" sz="1500" b="1" i="1" dirty="0" smtClean="0">
                        <a:solidFill>
                          <a:srgbClr val="1B5E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₁(</m:t>
                    </m:r>
                    <m:r>
                      <a:rPr lang="en-US" sz="1500" b="1" i="1" dirty="0" smtClean="0">
                        <a:solidFill>
                          <a:srgbClr val="1B5E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sz="1500" b="1" i="1" dirty="0" smtClean="0">
                        <a:solidFill>
                          <a:srgbClr val="1B5E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 = </m:t>
                    </m:r>
                    <m:r>
                      <a:rPr lang="en-US" sz="1500" b="1" i="1" dirty="0" smtClean="0">
                        <a:solidFill>
                          <a:srgbClr val="1B5E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en-US" sz="1500" b="1" i="1" dirty="0" smtClean="0">
                        <a:solidFill>
                          <a:srgbClr val="1B5E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₂(</m:t>
                    </m:r>
                    <m:r>
                      <a:rPr lang="en-US" sz="1500" b="1" i="1" dirty="0" smtClean="0">
                        <a:solidFill>
                          <a:srgbClr val="1B5E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sz="1500" b="1" i="1" dirty="0" smtClean="0">
                        <a:solidFill>
                          <a:srgbClr val="1B5E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   </m:t>
                    </m:r>
                  </m:oMath>
                </a14:m>
                <a:r>
                  <a:rPr lang="en-US" sz="1500" b="1" dirty="0">
                    <a:solidFill>
                      <a:srgbClr val="1B5E2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→  kein Sprung  </a:t>
                </a:r>
                <a:r>
                  <a:rPr lang="en-US" sz="1500" i="1" dirty="0">
                    <a:solidFill>
                      <a:srgbClr val="1B5E2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(stetig)</a:t>
                </a:r>
                <a:endParaRPr lang="en-US" sz="1500" dirty="0"/>
              </a:p>
            </p:txBody>
          </p:sp>
        </mc:Choice>
        <mc:Fallback xmlns="">
          <p:sp>
            <p:nvSpPr>
              <p:cNvPr id="54" name="Text 13">
                <a:extLst>
                  <a:ext uri="{FF2B5EF4-FFF2-40B4-BE49-F238E27FC236}">
                    <a16:creationId xmlns:a16="http://schemas.microsoft.com/office/drawing/2014/main" id="{F1D386C6-0D7A-4B1F-8C32-857E8CABB8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4599935"/>
                <a:ext cx="4297680" cy="685800"/>
              </a:xfrm>
              <a:prstGeom prst="rect">
                <a:avLst/>
              </a:prstGeom>
              <a:blipFill>
                <a:blip r:embed="rId6"/>
                <a:stretch>
                  <a:fillRect l="-21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14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4AD0-9866-B3B6-69B5-90C1B1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2AB782B-CE69-19BB-DF4F-784CB227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Beispiel 2 – Sprung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9CED610-D4E9-20F7-6EE7-726901F219AF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20D7655-6591-9C17-FB75-8161B2E1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FD8F9E12-D017-37D0-D353-AED454997C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7504E27-1AC9-4A71-99D6-886387B1D7CA}"/>
              </a:ext>
            </a:extLst>
          </p:cNvPr>
          <p:cNvSpPr/>
          <p:nvPr/>
        </p:nvSpPr>
        <p:spPr>
          <a:xfrm>
            <a:off x="685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B650F06-2C82-4F4C-A3D1-D86C0C3A3326}"/>
              </a:ext>
            </a:extLst>
          </p:cNvPr>
          <p:cNvSpPr/>
          <p:nvPr/>
        </p:nvSpPr>
        <p:spPr>
          <a:xfrm>
            <a:off x="685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3F023E5-2C51-45F1-8725-D2951E6046F3}"/>
                  </a:ext>
                </a:extLst>
              </p:cNvPr>
              <p:cNvSpPr txBox="1"/>
              <p:nvPr/>
            </p:nvSpPr>
            <p:spPr>
              <a:xfrm>
                <a:off x="362277" y="2828835"/>
                <a:ext cx="2383858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" pitchFamily="34" charset="-122"/>
                    <a:cs typeface="Cambria" pitchFamily="34" charset="-120"/>
                  </a:rPr>
                  <a:t>Nahtstelle: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  <m:sub>
                        <m:r>
                          <a:rPr 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𝒐</m:t>
                        </m:r>
                      </m:sub>
                    </m:sSub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r>
                      <a:rPr lang="de-DE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:endParaRPr lang="en-US" b="1" i="1" dirty="0">
                  <a:solidFill>
                    <a:srgbClr val="2E7D32"/>
                  </a:solidFill>
                  <a:latin typeface="Cambria Math" panose="02040503050406030204" pitchFamily="18" charset="0"/>
                  <a:ea typeface="Cambria" pitchFamily="34" charset="-122"/>
                  <a:cs typeface="Cambria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en-US" b="1" i="1" dirty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₁(</m:t>
                    </m:r>
                    <m:r>
                      <a:rPr lang="en-US" b="1" i="1" dirty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b="1" i="1" dirty="0">
                        <a:solidFill>
                          <a:srgbClr val="2E7D32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 = 1 + 1 = 2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b="1" i="1" dirty="0" smtClean="0">
                            <a:solidFill>
                              <a:srgbClr val="C71045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𝟐</m:t>
                        </m:r>
                      </m:sub>
                    </m:sSub>
                    <m:r>
                      <a:rPr lang="en-US" b="1" i="1" dirty="0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(</m:t>
                    </m:r>
                    <m:r>
                      <a:rPr lang="en-US" b="1" i="1" dirty="0">
                        <a:solidFill>
                          <a:srgbClr val="C71045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</m:t>
                    </m:r>
                    <m:r>
                      <a:rPr lang="en-US" i="1" dirty="0">
                        <a:solidFill>
                          <a:srgbClr val="1D1D1F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 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 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1</m:t>
                        </m:r>
                      </m:e>
                      <m:sup>
                        <m:r>
                          <a:rPr lang="de-DE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 +</m:t>
                    </m:r>
                    <m:r>
                      <a:rPr lang="de-DE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3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 =</m:t>
                    </m:r>
                    <m:r>
                      <a:rPr lang="de-DE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4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73F023E5-2C51-45F1-8725-D2951E604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77" y="2828835"/>
                <a:ext cx="2383858" cy="1477328"/>
              </a:xfrm>
              <a:prstGeom prst="rect">
                <a:avLst/>
              </a:prstGeom>
              <a:blipFill>
                <a:blip r:embed="rId3"/>
                <a:stretch>
                  <a:fillRect l="-2116" t="-1709" b="-341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9ADD1260-D6EE-4B6D-A13D-A79D6651479C}"/>
                  </a:ext>
                </a:extLst>
              </p:cNvPr>
              <p:cNvSpPr/>
              <p:nvPr/>
            </p:nvSpPr>
            <p:spPr>
              <a:xfrm>
                <a:off x="150484" y="1002695"/>
                <a:ext cx="6096000" cy="66441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d>
                      <m:dPr>
                        <m:ctrlPr>
                          <a:rPr lang="de-DE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𝒙</m:t>
                        </m:r>
                      </m:e>
                    </m:d>
                    <m:r>
                      <a:rPr lang="en-US" i="1" dirty="0">
                        <a:solidFill>
                          <a:srgbClr val="1D1D1F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dirty="0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dirty="0" smtClean="0">
                                <a:solidFill>
                                  <a:srgbClr val="1D1D1F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+1</m:t>
                              </m:r>
                            </m:e>
                            <m:e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≤1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dirty="0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dirty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dirty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dirty="0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de-DE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de-DE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de-DE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e-DE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+</m:t>
                              </m:r>
                              <m:r>
                                <a:rPr lang="de-DE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3</m:t>
                              </m:r>
                            </m:e>
                            <m:e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𝑓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ü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𝑟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 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𝑥</m:t>
                              </m:r>
                              <m:r>
                                <a:rPr lang="de-DE" b="0" i="1" dirty="0" smtClean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  <a:ea typeface="Cambria" pitchFamily="34" charset="-122"/>
                                </a:rPr>
                                <m:t>&gt;1</m:t>
                              </m:r>
                            </m:e>
                            <m:e>
                              <m:d>
                                <m:dPr>
                                  <m:ctrlPr>
                                    <a:rPr lang="de-DE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" pitchFamily="34" charset="-122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de-DE" b="0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de-DE" b="0" i="1" dirty="0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" pitchFamily="34" charset="-122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  <m:r>
                          <a:rPr lang="de-DE" b="0" i="1" dirty="0" smtClean="0">
                            <a:solidFill>
                              <a:srgbClr val="1D1D1F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9ADD1260-D6EE-4B6D-A13D-A79D66514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84" y="1002695"/>
                <a:ext cx="6096000" cy="664413"/>
              </a:xfrm>
              <a:prstGeom prst="rect">
                <a:avLst/>
              </a:prstGeom>
              <a:blipFill>
                <a:blip r:embed="rId4"/>
                <a:stretch>
                  <a:fillRect l="-1455" t="-148148" b="-2203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Image 1">
            <a:extLst>
              <a:ext uri="{FF2B5EF4-FFF2-40B4-BE49-F238E27FC236}">
                <a16:creationId xmlns:a16="http://schemas.microsoft.com/office/drawing/2014/main" id="{5534F654-3575-4D6F-B8FE-224ADB619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768" y="934328"/>
            <a:ext cx="4482937" cy="3016344"/>
          </a:xfrm>
          <a:prstGeom prst="rect">
            <a:avLst/>
          </a:prstGeom>
        </p:spPr>
      </p:pic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40ECA773-631D-433D-A901-7CD2568DD1C8}"/>
              </a:ext>
            </a:extLst>
          </p:cNvPr>
          <p:cNvGrpSpPr/>
          <p:nvPr/>
        </p:nvGrpSpPr>
        <p:grpSpPr>
          <a:xfrm>
            <a:off x="8255355" y="982230"/>
            <a:ext cx="3531476" cy="2616066"/>
            <a:chOff x="4636008" y="1010411"/>
            <a:chExt cx="3812758" cy="2678365"/>
          </a:xfrm>
        </p:grpSpPr>
        <p:sp>
          <p:nvSpPr>
            <p:cNvPr id="47" name="Shape 18">
              <a:extLst>
                <a:ext uri="{FF2B5EF4-FFF2-40B4-BE49-F238E27FC236}">
                  <a16:creationId xmlns:a16="http://schemas.microsoft.com/office/drawing/2014/main" id="{228FCF54-C93E-4750-92B5-8F19003720E8}"/>
                </a:ext>
              </a:extLst>
            </p:cNvPr>
            <p:cNvSpPr/>
            <p:nvPr/>
          </p:nvSpPr>
          <p:spPr>
            <a:xfrm>
              <a:off x="4636008" y="1010411"/>
              <a:ext cx="3812758" cy="2678365"/>
            </a:xfrm>
            <a:prstGeom prst="roundRect">
              <a:avLst>
                <a:gd name="adj" fmla="val 3019"/>
              </a:avLst>
            </a:prstGeom>
            <a:solidFill>
              <a:srgbClr val="FBEEF0"/>
            </a:solidFill>
            <a:ln w="12700">
              <a:solidFill>
                <a:srgbClr val="C8102E"/>
              </a:solidFill>
              <a:prstDash val="solid"/>
            </a:ln>
            <a:effectLst>
              <a:outerShdw blurRad="88900" dist="38100" dir="5400000" algn="bl" rotWithShape="0">
                <a:srgbClr val="000000">
                  <a:alpha val="13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Text 19">
              <a:extLst>
                <a:ext uri="{FF2B5EF4-FFF2-40B4-BE49-F238E27FC236}">
                  <a16:creationId xmlns:a16="http://schemas.microsoft.com/office/drawing/2014/main" id="{299FA3EE-90CC-4C09-B2CA-8D647F4A4CE8}"/>
                </a:ext>
              </a:extLst>
            </p:cNvPr>
            <p:cNvSpPr/>
            <p:nvPr/>
          </p:nvSpPr>
          <p:spPr>
            <a:xfrm>
              <a:off x="4983480" y="1298448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50" b="1" dirty="0">
                  <a:solidFill>
                    <a:srgbClr val="C8102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Bedingung</a:t>
              </a:r>
              <a:endParaRPr lang="en-US" sz="1550" dirty="0"/>
            </a:p>
          </p:txBody>
        </p:sp>
        <p:sp>
          <p:nvSpPr>
            <p:cNvPr id="49" name="Text 20">
              <a:extLst>
                <a:ext uri="{FF2B5EF4-FFF2-40B4-BE49-F238E27FC236}">
                  <a16:creationId xmlns:a16="http://schemas.microsoft.com/office/drawing/2014/main" id="{40F39F12-2F0B-4CD7-A263-44C8FD8DDEFC}"/>
                </a:ext>
              </a:extLst>
            </p:cNvPr>
            <p:cNvSpPr/>
            <p:nvPr/>
          </p:nvSpPr>
          <p:spPr>
            <a:xfrm>
              <a:off x="4983480" y="1755648"/>
              <a:ext cx="3383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f₁(x₀) = f₂(x₀)</a:t>
              </a:r>
              <a:r>
                <a:rPr lang="en-US" sz="1700" b="1" dirty="0">
                  <a:solidFill>
                    <a:srgbClr val="1B5E2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→  kein Sprung</a:t>
              </a:r>
              <a:endParaRPr lang="en-US" sz="1700" dirty="0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4DA94D22-D1A6-4AA2-92B5-EDC23E13EE4A}"/>
                </a:ext>
              </a:extLst>
            </p:cNvPr>
            <p:cNvSpPr/>
            <p:nvPr/>
          </p:nvSpPr>
          <p:spPr>
            <a:xfrm>
              <a:off x="4983480" y="2185416"/>
              <a:ext cx="33832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i="1" dirty="0">
                  <a:solidFill>
                    <a:srgbClr val="6B6B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(die Funktion ist stetig)</a:t>
              </a:r>
              <a:endParaRPr lang="en-US" sz="1300" dirty="0"/>
            </a:p>
          </p:txBody>
        </p:sp>
        <p:sp>
          <p:nvSpPr>
            <p:cNvPr id="51" name="Text 22">
              <a:extLst>
                <a:ext uri="{FF2B5EF4-FFF2-40B4-BE49-F238E27FC236}">
                  <a16:creationId xmlns:a16="http://schemas.microsoft.com/office/drawing/2014/main" id="{E7B62428-9940-4B47-8485-CB44CD1558CE}"/>
                </a:ext>
              </a:extLst>
            </p:cNvPr>
            <p:cNvSpPr/>
            <p:nvPr/>
          </p:nvSpPr>
          <p:spPr>
            <a:xfrm>
              <a:off x="4983480" y="2624328"/>
              <a:ext cx="33832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f₁(x₀) ≠ f₂(x₀)</a:t>
              </a:r>
              <a:r>
                <a:rPr lang="en-US" sz="1700" b="1" dirty="0">
                  <a:solidFill>
                    <a:srgbClr val="B0002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→  Sprung</a:t>
              </a:r>
              <a:endParaRPr lang="en-US" sz="1700" dirty="0"/>
            </a:p>
          </p:txBody>
        </p:sp>
        <p:sp>
          <p:nvSpPr>
            <p:cNvPr id="52" name="Text 23">
              <a:extLst>
                <a:ext uri="{FF2B5EF4-FFF2-40B4-BE49-F238E27FC236}">
                  <a16:creationId xmlns:a16="http://schemas.microsoft.com/office/drawing/2014/main" id="{E1545C64-11DE-4C27-A8C4-9574B97A14E3}"/>
                </a:ext>
              </a:extLst>
            </p:cNvPr>
            <p:cNvSpPr/>
            <p:nvPr/>
          </p:nvSpPr>
          <p:spPr>
            <a:xfrm>
              <a:off x="4983480" y="3054096"/>
              <a:ext cx="33832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i="1" dirty="0">
                  <a:solidFill>
                    <a:srgbClr val="6B6B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(die Funktion ist nicht stetig)</a:t>
              </a:r>
              <a:endParaRPr lang="en-US" sz="1300" dirty="0"/>
            </a:p>
          </p:txBody>
        </p:sp>
      </p:grpSp>
      <p:sp>
        <p:nvSpPr>
          <p:cNvPr id="20" name="Shape 12">
            <a:extLst>
              <a:ext uri="{FF2B5EF4-FFF2-40B4-BE49-F238E27FC236}">
                <a16:creationId xmlns:a16="http://schemas.microsoft.com/office/drawing/2014/main" id="{DEF40A44-FC3F-46B3-A9ED-F186475825BE}"/>
              </a:ext>
            </a:extLst>
          </p:cNvPr>
          <p:cNvSpPr/>
          <p:nvPr/>
        </p:nvSpPr>
        <p:spPr>
          <a:xfrm>
            <a:off x="362277" y="4708761"/>
            <a:ext cx="4572000" cy="68580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B00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3">
                <a:extLst>
                  <a:ext uri="{FF2B5EF4-FFF2-40B4-BE49-F238E27FC236}">
                    <a16:creationId xmlns:a16="http://schemas.microsoft.com/office/drawing/2014/main" id="{1F805685-3665-4234-A600-8F7BA338261F}"/>
                  </a:ext>
                </a:extLst>
              </p:cNvPr>
              <p:cNvSpPr/>
              <p:nvPr/>
            </p:nvSpPr>
            <p:spPr>
              <a:xfrm>
                <a:off x="526869" y="4708761"/>
                <a:ext cx="429768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 xmlns:m="http://schemas.openxmlformats.org/officeDocument/2006/math">
                    <m:r>
                      <a:rPr lang="en-US" sz="15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en-US" sz="15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₁(</m:t>
                    </m:r>
                    <m:r>
                      <a:rPr lang="en-US" sz="15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sz="15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 ≠ </m:t>
                    </m:r>
                    <m:r>
                      <a:rPr lang="en-US" sz="15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𝒇</m:t>
                    </m:r>
                    <m:r>
                      <a:rPr lang="en-US" sz="15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₂(</m:t>
                    </m:r>
                    <m:r>
                      <a:rPr lang="en-US" sz="15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𝟏</m:t>
                    </m:r>
                    <m:r>
                      <a:rPr lang="en-US" sz="15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)   </m:t>
                    </m:r>
                  </m:oMath>
                </a14:m>
                <a:r>
                  <a:rPr lang="en-US" sz="1500" b="1" dirty="0">
                    <a:solidFill>
                      <a:srgbClr val="B0002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→  Sprung  </a:t>
                </a:r>
                <a:r>
                  <a:rPr lang="en-US" sz="1500" i="1" dirty="0">
                    <a:solidFill>
                      <a:srgbClr val="B0002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(nicht stetig)</a:t>
                </a:r>
                <a:endParaRPr lang="en-US" sz="1500" dirty="0"/>
              </a:p>
            </p:txBody>
          </p:sp>
        </mc:Choice>
        <mc:Fallback xmlns="">
          <p:sp>
            <p:nvSpPr>
              <p:cNvPr id="21" name="Text 13">
                <a:extLst>
                  <a:ext uri="{FF2B5EF4-FFF2-40B4-BE49-F238E27FC236}">
                    <a16:creationId xmlns:a16="http://schemas.microsoft.com/office/drawing/2014/main" id="{1F805685-3665-4234-A600-8F7BA33826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69" y="4708761"/>
                <a:ext cx="4297680" cy="685800"/>
              </a:xfrm>
              <a:prstGeom prst="rect">
                <a:avLst/>
              </a:prstGeom>
              <a:blipFill>
                <a:blip r:embed="rId6"/>
                <a:stretch>
                  <a:fillRect l="-212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64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4AD0-9866-B3B6-69B5-90C1B1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2AB782B-CE69-19BB-DF4F-784CB227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Warum ist das wirtschaftlich wichtig?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9CED610-D4E9-20F7-6EE7-726901F219AF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20D7655-6591-9C17-FB75-8161B2E1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FD8F9E12-D017-37D0-D353-AED454997C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7504E27-1AC9-4A71-99D6-886387B1D7CA}"/>
              </a:ext>
            </a:extLst>
          </p:cNvPr>
          <p:cNvSpPr/>
          <p:nvPr/>
        </p:nvSpPr>
        <p:spPr>
          <a:xfrm>
            <a:off x="685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B650F06-2C82-4F4C-A3D1-D86C0C3A3326}"/>
              </a:ext>
            </a:extLst>
          </p:cNvPr>
          <p:cNvSpPr/>
          <p:nvPr/>
        </p:nvSpPr>
        <p:spPr>
          <a:xfrm>
            <a:off x="685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B51343C-137F-4FD6-83BC-6120D2AA83B8}"/>
              </a:ext>
            </a:extLst>
          </p:cNvPr>
          <p:cNvSpPr txBox="1"/>
          <p:nvPr/>
        </p:nvSpPr>
        <p:spPr>
          <a:xfrm>
            <a:off x="150484" y="989131"/>
            <a:ext cx="6682116" cy="2956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Tarife und Kostenfunktionen</a:t>
            </a:r>
            <a:r>
              <a:rPr lang="en-US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sind oft abschnittsweise definiert – z. B. Staffelpreise für Strom, Porto oder Mengenrabatte.</a:t>
            </a:r>
            <a:endParaRPr lang="en-US" dirty="0"/>
          </a:p>
          <a:p>
            <a:pPr>
              <a:lnSpc>
                <a:spcPct val="150000"/>
              </a:lnSpc>
            </a:pPr>
            <a:endParaRPr lang="de-DE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der Nahtstelle sollte der Preis </a:t>
            </a:r>
            <a:r>
              <a:rPr lang="en-US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nahtlos anschließen</a:t>
            </a:r>
            <a:r>
              <a:rPr lang="en-US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</a:t>
            </a:r>
            <a:br>
              <a:rPr lang="en-US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Sprung wäre ein plötzlicher, unerwarteter </a:t>
            </a:r>
            <a:r>
              <a:rPr lang="en-US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Preissprung</a:t>
            </a:r>
            <a:r>
              <a:rPr lang="en-US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1D1D1F"/>
              </a:solidFill>
              <a:latin typeface="Cambria" pitchFamily="34" charset="0"/>
              <a:ea typeface="Cambria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Sprung</a:t>
            </a:r>
            <a:r>
              <a:rPr lang="en-US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fairer, </a:t>
            </a:r>
            <a:r>
              <a:rPr lang="en-US" dirty="0" err="1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nahtloser</a:t>
            </a:r>
            <a:r>
              <a:rPr lang="en-US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Übergang</a:t>
            </a:r>
            <a:endParaRPr lang="en-US" dirty="0"/>
          </a:p>
        </p:txBody>
      </p:sp>
      <p:pic>
        <p:nvPicPr>
          <p:cNvPr id="22" name="Image 1" descr="g_tariff_jump.png">
            <a:extLst>
              <a:ext uri="{FF2B5EF4-FFF2-40B4-BE49-F238E27FC236}">
                <a16:creationId xmlns:a16="http://schemas.microsoft.com/office/drawing/2014/main" id="{2E918FCD-B7D4-4E51-AD3D-E2FDBCF6D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775671"/>
            <a:ext cx="5056516" cy="343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55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4AD0-9866-B3B6-69B5-90C1B14E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2AB782B-CE69-19BB-DF4F-784CB227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84" y="162170"/>
            <a:ext cx="5982346" cy="613501"/>
          </a:xfrm>
        </p:spPr>
        <p:txBody>
          <a:bodyPr>
            <a:normAutofit/>
          </a:bodyPr>
          <a:lstStyle/>
          <a:p>
            <a:pPr algn="l"/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Ein wichtiger Hinweis</a:t>
            </a:r>
          </a:p>
        </p:txBody>
      </p:sp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9CED610-D4E9-20F7-6EE7-726901F219AF}"/>
              </a:ext>
            </a:extLst>
          </p:cNvPr>
          <p:cNvCxnSpPr/>
          <p:nvPr/>
        </p:nvCxnSpPr>
        <p:spPr>
          <a:xfrm>
            <a:off x="150484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220D7655-6591-9C17-FB75-8161B2E1B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424" y="122115"/>
            <a:ext cx="913092" cy="388581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FD8F9E12-D017-37D0-D353-AED454997C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60524" y="4599935"/>
            <a:ext cx="3531476" cy="2201917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7504E27-1AC9-4A71-99D6-886387B1D7CA}"/>
              </a:ext>
            </a:extLst>
          </p:cNvPr>
          <p:cNvSpPr/>
          <p:nvPr/>
        </p:nvSpPr>
        <p:spPr>
          <a:xfrm>
            <a:off x="68580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B650F06-2C82-4F4C-A3D1-D86C0C3A3326}"/>
              </a:ext>
            </a:extLst>
          </p:cNvPr>
          <p:cNvSpPr/>
          <p:nvPr/>
        </p:nvSpPr>
        <p:spPr>
          <a:xfrm>
            <a:off x="6858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1E6359DD-EC6D-4040-A4CD-AA6817B89500}"/>
              </a:ext>
            </a:extLst>
          </p:cNvPr>
          <p:cNvSpPr/>
          <p:nvPr/>
        </p:nvSpPr>
        <p:spPr>
          <a:xfrm>
            <a:off x="150484" y="917201"/>
            <a:ext cx="9476116" cy="1600200"/>
          </a:xfrm>
          <a:prstGeom prst="roundRect">
            <a:avLst>
              <a:gd name="adj" fmla="val 3429"/>
            </a:avLst>
          </a:prstGeom>
          <a:solidFill>
            <a:srgbClr val="F6F1EA"/>
          </a:solidFill>
          <a:ln w="12700">
            <a:solidFill>
              <a:srgbClr val="D8CFC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556A072-E07B-4B60-AFA8-54E5A3A53C89}"/>
              </a:ext>
            </a:extLst>
          </p:cNvPr>
          <p:cNvSpPr/>
          <p:nvPr/>
        </p:nvSpPr>
        <p:spPr>
          <a:xfrm>
            <a:off x="406516" y="1100081"/>
            <a:ext cx="9105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Ganzrationale Funktionen</a:t>
            </a: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(Geraden, Parabeln, Funktionen 3. Grades …) sind </a:t>
            </a:r>
            <a:r>
              <a:rPr lang="en-US" sz="17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überall stetig</a:t>
            </a: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Bei ihnen kann ein Sprung nur an der Nahtstelle entstehen – dort genügt der einfache Vergleich </a:t>
            </a:r>
            <a:r>
              <a:rPr lang="en-US" sz="17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f₁(x₀) = f₂(x₀)</a:t>
            </a: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C45A681-F2BD-46FD-A791-ECA4E84D6DDA}"/>
              </a:ext>
            </a:extLst>
          </p:cNvPr>
          <p:cNvSpPr/>
          <p:nvPr/>
        </p:nvSpPr>
        <p:spPr>
          <a:xfrm>
            <a:off x="430924" y="285820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der Wirtschaft</a:t>
            </a:r>
            <a:r>
              <a:rPr lang="en-US" sz="16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betrachten wir fast immer solche Funktionen – deshalb reicht uns diese vereinfachte Prüfung.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359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Macintosh PowerPoint</Application>
  <PresentationFormat>Breitbild</PresentationFormat>
  <Paragraphs>54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5" baseType="lpstr">
      <vt:lpstr>Arial</vt:lpstr>
      <vt:lpstr>Arial Rounded MT Bold</vt:lpstr>
      <vt:lpstr>Bahnschrift</vt:lpstr>
      <vt:lpstr>Calibri</vt:lpstr>
      <vt:lpstr>Calibri Light</vt:lpstr>
      <vt:lpstr>Cambria</vt:lpstr>
      <vt:lpstr>Cambria Math</vt:lpstr>
      <vt:lpstr>Wingdings</vt:lpstr>
      <vt:lpstr>Office</vt:lpstr>
      <vt:lpstr>Stetigkeit Wann verläuft ein Graph ohne Sprung?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Matrizen</dc:title>
  <dc:creator>Olaf Kott</dc:creator>
  <cp:lastModifiedBy>Olaf Kott</cp:lastModifiedBy>
  <cp:revision>212</cp:revision>
  <dcterms:created xsi:type="dcterms:W3CDTF">2020-11-21T09:44:19Z</dcterms:created>
  <dcterms:modified xsi:type="dcterms:W3CDTF">2026-09-07T15:27:33Z</dcterms:modified>
</cp:coreProperties>
</file>