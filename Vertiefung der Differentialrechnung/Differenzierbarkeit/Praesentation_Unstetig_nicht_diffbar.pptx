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92" r:id="rId2"/>
    <p:sldId id="257" r:id="rId3"/>
    <p:sldId id="258" r:id="rId4"/>
    <p:sldId id="261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3329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A23E6-6197-0D45-A507-51F7C9CB6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684521A-5E66-784A-9D61-B6BC649FC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A9B568-650B-FE45-8850-2042D55D7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6971B-A6B8-BD4E-B0A2-A102A34232A7}" type="datetimeFigureOut">
              <a:rPr lang="de-DE" smtClean="0"/>
              <a:t>08.09.26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060324-016E-574F-992B-C5F23126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24EB4-97DC-FB42-98C9-FBAB497A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C73CC-F3CE-ED49-9750-DECAE0F4C7DE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8834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4">
            <a:extLst>
              <a:ext uri="{FF2B5EF4-FFF2-40B4-BE49-F238E27FC236}">
                <a16:creationId xmlns:a16="http://schemas.microsoft.com/office/drawing/2014/main" id="{3ED8D9AD-675D-032E-15D9-72689F944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2900" y="1122363"/>
            <a:ext cx="11535508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de-DE" sz="67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Differenzierbarkeit </a:t>
            </a:r>
            <a:br>
              <a:rPr lang="de-DE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de-DE" sz="3600" dirty="0">
                <a:latin typeface="Bahnschrift" panose="020B0502040204020203" pitchFamily="34" charset="0"/>
                <a:ea typeface="Roboto" panose="02000000000000000000" pitchFamily="2" charset="0"/>
                <a:cs typeface="Roboto" panose="02000000000000000000" pitchFamily="2" charset="0"/>
              </a:rPr>
              <a:t>Warum aus Unstetigkeit sofort „nicht differenzierbar“ folgt</a:t>
            </a: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9AAECF12-4078-AC03-FC24-B8CD76CE6408}"/>
              </a:ext>
            </a:extLst>
          </p:cNvPr>
          <p:cNvCxnSpPr>
            <a:cxnSpLocks/>
          </p:cNvCxnSpPr>
          <p:nvPr/>
        </p:nvCxnSpPr>
        <p:spPr>
          <a:xfrm>
            <a:off x="2196611" y="2565252"/>
            <a:ext cx="9196603" cy="0"/>
          </a:xfrm>
          <a:prstGeom prst="line">
            <a:avLst/>
          </a:prstGeom>
          <a:ln w="28575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692425E3-FF97-5BDE-2C28-D5657F2D06BD}"/>
              </a:ext>
            </a:extLst>
          </p:cNvPr>
          <p:cNvSpPr/>
          <p:nvPr/>
        </p:nvSpPr>
        <p:spPr>
          <a:xfrm rot="1136847">
            <a:off x="10632533" y="5427310"/>
            <a:ext cx="2696308" cy="181121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E592626-D435-803A-76A1-CDFB2EB70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7595" y="5944336"/>
            <a:ext cx="913092" cy="388581"/>
          </a:xfrm>
          <a:prstGeom prst="rect">
            <a:avLst/>
          </a:prstGeom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A1CC6754-56FE-DD8A-788C-73466ACC0861}"/>
              </a:ext>
            </a:extLst>
          </p:cNvPr>
          <p:cNvSpPr/>
          <p:nvPr/>
        </p:nvSpPr>
        <p:spPr>
          <a:xfrm rot="2621423">
            <a:off x="9243459" y="6416111"/>
            <a:ext cx="2696308" cy="1811215"/>
          </a:xfrm>
          <a:prstGeom prst="rect">
            <a:avLst/>
          </a:prstGeom>
          <a:solidFill>
            <a:srgbClr val="C7104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5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CFFAFA68-8549-D8B3-A7F2-9A87E358B42C}"/>
              </a:ext>
            </a:extLst>
          </p:cNvPr>
          <p:cNvGrpSpPr/>
          <p:nvPr/>
        </p:nvGrpSpPr>
        <p:grpSpPr>
          <a:xfrm>
            <a:off x="457200" y="1143000"/>
            <a:ext cx="4169664" cy="868680"/>
            <a:chOff x="457200" y="1143000"/>
            <a:chExt cx="4169664" cy="868680"/>
          </a:xfrm>
        </p:grpSpPr>
        <p:sp>
          <p:nvSpPr>
            <p:cNvPr id="5" name="Text 2"/>
            <p:cNvSpPr/>
            <p:nvPr/>
          </p:nvSpPr>
          <p:spPr>
            <a:xfrm>
              <a:off x="457200" y="1234440"/>
              <a:ext cx="914400" cy="7680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f(x) =</a:t>
              </a:r>
              <a:endParaRPr lang="en-US" sz="16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1014984" y="1143000"/>
              <a:ext cx="320040" cy="868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4800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{</a:t>
              </a:r>
              <a:endParaRPr lang="en-US" sz="48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1335024" y="1243584"/>
              <a:ext cx="3291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5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x²</a:t>
              </a:r>
              <a:r>
                <a:rPr lang="en-US" sz="1550" dirty="0">
                  <a:solidFill>
                    <a:srgbClr val="6B6B6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          für x &lt; 0</a:t>
              </a:r>
              <a:endParaRPr lang="en-US" sz="155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335024" y="1627632"/>
              <a:ext cx="329184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55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x² + 1</a:t>
              </a:r>
              <a:r>
                <a:rPr lang="en-US" sz="1550" dirty="0">
                  <a:solidFill>
                    <a:srgbClr val="6B6B6B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    für x ≥ 0</a:t>
              </a:r>
              <a:endParaRPr lang="en-US" sz="1550" dirty="0"/>
            </a:p>
          </p:txBody>
        </p:sp>
      </p:grpSp>
      <p:sp>
        <p:nvSpPr>
          <p:cNvPr id="9" name="Text 6"/>
          <p:cNvSpPr/>
          <p:nvPr/>
        </p:nvSpPr>
        <p:spPr>
          <a:xfrm>
            <a:off x="457200" y="2331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5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Nahtstelle x₀ = 0</a:t>
            </a:r>
            <a:endParaRPr lang="en-US" sz="15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7"/>
              <p:cNvSpPr/>
              <p:nvPr/>
            </p:nvSpPr>
            <p:spPr>
              <a:xfrm>
                <a:off x="548640" y="2743200"/>
                <a:ext cx="475488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5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de-DE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sz="15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1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de-DE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sz="15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500" dirty="0"/>
                  <a:t> </a:t>
                </a:r>
              </a:p>
            </p:txBody>
          </p:sp>
        </mc:Choice>
        <mc:Fallback xmlns="">
          <p:sp>
            <p:nvSpPr>
              <p:cNvPr id="10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2743200"/>
                <a:ext cx="4754880" cy="347472"/>
              </a:xfrm>
              <a:prstGeom prst="rect">
                <a:avLst/>
              </a:prstGeom>
              <a:blipFill>
                <a:blip r:embed="rId3"/>
                <a:stretch>
                  <a:fillRect l="-1867" b="-3571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8"/>
              <p:cNvSpPr/>
              <p:nvPr/>
            </p:nvSpPr>
            <p:spPr>
              <a:xfrm>
                <a:off x="548640" y="3108960"/>
                <a:ext cx="4754880" cy="34747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5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de-DE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de-DE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de-DE" sz="15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de-DE" sz="15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5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de-DE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de-DE" sz="1500" b="0" i="1" smtClean="0">
                        <a:latin typeface="Cambria Math" panose="02040503050406030204" pitchFamily="18" charset="0"/>
                      </a:rPr>
                      <m:t>+1=1</m:t>
                    </m:r>
                  </m:oMath>
                </a14:m>
                <a:r>
                  <a:rPr lang="en-US" sz="1500" dirty="0"/>
                  <a:t> </a:t>
                </a:r>
              </a:p>
            </p:txBody>
          </p:sp>
        </mc:Choice>
        <mc:Fallback xmlns="">
          <p:sp>
            <p:nvSpPr>
              <p:cNvPr id="11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3108960"/>
                <a:ext cx="4754880" cy="347472"/>
              </a:xfrm>
              <a:prstGeom prst="rect">
                <a:avLst/>
              </a:prstGeom>
              <a:blipFill>
                <a:blip r:embed="rId4"/>
                <a:stretch>
                  <a:fillRect l="-1867" b="-3448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9"/>
          <p:cNvSpPr/>
          <p:nvPr/>
        </p:nvSpPr>
        <p:spPr>
          <a:xfrm>
            <a:off x="457200" y="3657600"/>
            <a:ext cx="4937760" cy="731520"/>
          </a:xfrm>
          <a:prstGeom prst="roundRect">
            <a:avLst>
              <a:gd name="adj" fmla="val 7500"/>
            </a:avLst>
          </a:prstGeom>
          <a:solidFill>
            <a:srgbClr val="FBEEF0"/>
          </a:solidFill>
          <a:ln w="12700">
            <a:solidFill>
              <a:srgbClr val="B00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0"/>
              <p:cNvSpPr/>
              <p:nvPr/>
            </p:nvSpPr>
            <p:spPr>
              <a:xfrm>
                <a:off x="621792" y="3657600"/>
                <a:ext cx="4663440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1600" b="1" i="1" dirty="0" smtClean="0">
                            <a:solidFill>
                              <a:srgbClr val="B0002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de-DE" sz="1600" b="1" i="1" dirty="0" smtClean="0">
                            <a:solidFill>
                              <a:srgbClr val="B0002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𝒇</m:t>
                        </m:r>
                      </m:e>
                      <m:sub>
                        <m:r>
                          <a:rPr lang="de-DE" sz="1600" b="1" i="1" dirty="0" smtClean="0">
                            <a:solidFill>
                              <a:srgbClr val="B0002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de-DE" sz="1600" b="1" i="1" dirty="0" smtClean="0">
                            <a:solidFill>
                              <a:srgbClr val="B0002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de-DE" sz="1600" b="1" i="1" dirty="0" smtClean="0">
                            <a:solidFill>
                              <a:srgbClr val="B0002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𝟎</m:t>
                        </m:r>
                      </m:e>
                    </m:d>
                    <m:r>
                      <a:rPr lang="de-DE" sz="1600" b="1" i="1" dirty="0" smtClean="0">
                        <a:solidFill>
                          <a:srgbClr val="B0002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" pitchFamily="34" charset="-120"/>
                      </a:rPr>
                      <m:t>≠</m:t>
                    </m:r>
                    <m:sSub>
                      <m:sSubPr>
                        <m:ctrlPr>
                          <a:rPr lang="de-DE" sz="1600" b="1" i="1" dirty="0" smtClean="0">
                            <a:solidFill>
                              <a:srgbClr val="B000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itchFamily="34" charset="-120"/>
                          </a:rPr>
                        </m:ctrlPr>
                      </m:sSubPr>
                      <m:e>
                        <m:r>
                          <a:rPr lang="de-DE" sz="1600" b="1" i="1" dirty="0" smtClean="0">
                            <a:solidFill>
                              <a:srgbClr val="B000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itchFamily="34" charset="-120"/>
                          </a:rPr>
                          <m:t>𝒇</m:t>
                        </m:r>
                      </m:e>
                      <m:sub>
                        <m:r>
                          <a:rPr lang="de-DE" sz="1600" b="1" i="1" dirty="0" smtClean="0">
                            <a:solidFill>
                              <a:srgbClr val="B000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itchFamily="34" charset="-12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de-DE" sz="1600" b="1" i="1" dirty="0" smtClean="0">
                            <a:solidFill>
                              <a:srgbClr val="B000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itchFamily="34" charset="-120"/>
                          </a:rPr>
                        </m:ctrlPr>
                      </m:dPr>
                      <m:e>
                        <m:r>
                          <a:rPr lang="de-DE" sz="1600" b="1" i="1" dirty="0" smtClean="0">
                            <a:solidFill>
                              <a:srgbClr val="B000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" pitchFamily="34" charset="-120"/>
                          </a:rPr>
                          <m:t>𝟎</m:t>
                        </m:r>
                      </m:e>
                    </m:d>
                  </m:oMath>
                </a14:m>
                <a:r>
                  <a:rPr lang="en-US" sz="1600" b="1" dirty="0">
                    <a:solidFill>
                      <a:srgbClr val="B0002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→  nicht stetig</a:t>
                </a:r>
                <a:endParaRPr lang="en-US" sz="1600" dirty="0"/>
              </a:p>
            </p:txBody>
          </p:sp>
        </mc:Choice>
        <mc:Fallback xmlns="">
          <p:sp>
            <p:nvSpPr>
              <p:cNvPr id="13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92" y="3657600"/>
                <a:ext cx="4663440" cy="731520"/>
              </a:xfrm>
              <a:prstGeom prst="rect">
                <a:avLst/>
              </a:prstGeom>
              <a:blipFill>
                <a:blip r:embed="rId5"/>
                <a:stretch>
                  <a:fillRect l="-1897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Image 1" descr="g_u_bs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1188720"/>
            <a:ext cx="5760720" cy="4032504"/>
          </a:xfrm>
          <a:prstGeom prst="rect">
            <a:avLst/>
          </a:prstGeom>
        </p:spPr>
      </p:pic>
      <p:sp>
        <p:nvSpPr>
          <p:cNvPr id="15" name="Untertitel 2">
            <a:extLst>
              <a:ext uri="{FF2B5EF4-FFF2-40B4-BE49-F238E27FC236}">
                <a16:creationId xmlns:a16="http://schemas.microsoft.com/office/drawing/2014/main" id="{41452B56-A5EE-C182-6A32-7AAF1A00444A}"/>
              </a:ext>
            </a:extLst>
          </p:cNvPr>
          <p:cNvSpPr txBox="1">
            <a:spLocks/>
          </p:cNvSpPr>
          <p:nvPr/>
        </p:nvSpPr>
        <p:spPr>
          <a:xfrm>
            <a:off x="218373" y="162170"/>
            <a:ext cx="5982346" cy="613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Beispiel</a:t>
            </a:r>
          </a:p>
        </p:txBody>
      </p:sp>
      <p:cxnSp>
        <p:nvCxnSpPr>
          <p:cNvPr id="16" name="Gerade Verbindung 15">
            <a:extLst>
              <a:ext uri="{FF2B5EF4-FFF2-40B4-BE49-F238E27FC236}">
                <a16:creationId xmlns:a16="http://schemas.microsoft.com/office/drawing/2014/main" id="{AFCA2B86-8F13-9FAA-D8B0-C8BAF25AC196}"/>
              </a:ext>
            </a:extLst>
          </p:cNvPr>
          <p:cNvCxnSpPr/>
          <p:nvPr/>
        </p:nvCxnSpPr>
        <p:spPr>
          <a:xfrm>
            <a:off x="218373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fik 16">
            <a:extLst>
              <a:ext uri="{FF2B5EF4-FFF2-40B4-BE49-F238E27FC236}">
                <a16:creationId xmlns:a16="http://schemas.microsoft.com/office/drawing/2014/main" id="{694459D7-0C47-4E24-09DC-EED2E90866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6313" y="122115"/>
            <a:ext cx="913092" cy="3885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457200" y="1060704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Ableitung an einer Stelle x₀ ist der </a:t>
            </a:r>
            <a:r>
              <a:rPr lang="en-US" sz="17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Grenzwert des Differenzialquotienten</a:t>
            </a:r>
            <a:r>
              <a:rPr lang="en-US" sz="17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also die Steigung der Sekante, wenn der zweite Punkt immer näher an x₀ heranrückt.</a:t>
            </a:r>
            <a:endParaRPr lang="en-US" sz="1700" dirty="0"/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0C582AD0-DAF7-D812-E92A-EFE811B1F9A2}"/>
              </a:ext>
            </a:extLst>
          </p:cNvPr>
          <p:cNvGrpSpPr/>
          <p:nvPr/>
        </p:nvGrpSpPr>
        <p:grpSpPr>
          <a:xfrm>
            <a:off x="6315456" y="1667449"/>
            <a:ext cx="5669280" cy="1545864"/>
            <a:chOff x="285726" y="2286000"/>
            <a:chExt cx="6263853" cy="1746504"/>
          </a:xfrm>
        </p:grpSpPr>
        <p:sp>
          <p:nvSpPr>
            <p:cNvPr id="6" name="Shape 3"/>
            <p:cNvSpPr/>
            <p:nvPr/>
          </p:nvSpPr>
          <p:spPr>
            <a:xfrm>
              <a:off x="285726" y="2286000"/>
              <a:ext cx="6263853" cy="1746504"/>
            </a:xfrm>
            <a:prstGeom prst="roundRect">
              <a:avLst>
                <a:gd name="adj" fmla="val 3871"/>
              </a:avLst>
            </a:prstGeom>
            <a:solidFill>
              <a:srgbClr val="E9F2FB"/>
            </a:solidFill>
            <a:ln w="12700">
              <a:solidFill>
                <a:srgbClr val="1D70B8"/>
              </a:solidFill>
              <a:prstDash val="solid"/>
            </a:ln>
            <a:effectLst>
              <a:outerShdw blurRad="76200" dist="25400" dir="54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de-DE"/>
            </a:p>
          </p:txBody>
        </p:sp>
        <p:sp>
          <p:nvSpPr>
            <p:cNvPr id="7" name="Text 4"/>
            <p:cNvSpPr/>
            <p:nvPr/>
          </p:nvSpPr>
          <p:spPr>
            <a:xfrm>
              <a:off x="777240" y="2286000"/>
              <a:ext cx="1554480" cy="1417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1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 ′(x₀)  =</a:t>
              </a:r>
              <a:endParaRPr lang="en-US" sz="21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1783080" y="2720340"/>
              <a:ext cx="8229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D70B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lim</a:t>
              </a:r>
              <a:endParaRPr lang="en-US" sz="20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1645920" y="2999232"/>
              <a:ext cx="10972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1D70B8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x → x₀</a:t>
              </a:r>
              <a:endParaRPr lang="en-US" sz="12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2468880" y="2450592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f(x) − f(x₀)</a:t>
              </a:r>
              <a:endParaRPr lang="en-US" sz="20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2514600" y="2962656"/>
              <a:ext cx="2560320" cy="0"/>
            </a:xfrm>
            <a:prstGeom prst="line">
              <a:avLst/>
            </a:prstGeom>
            <a:noFill/>
            <a:ln w="20320">
              <a:solidFill>
                <a:srgbClr val="1D1D1F"/>
              </a:solidFill>
              <a:prstDash val="soli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2" name="Text 9"/>
            <p:cNvSpPr/>
            <p:nvPr/>
          </p:nvSpPr>
          <p:spPr>
            <a:xfrm>
              <a:off x="2468880" y="3017520"/>
              <a:ext cx="26517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1D1D1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x − x₀</a:t>
              </a:r>
              <a:endParaRPr lang="en-US" sz="2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10"/>
                <p:cNvSpPr/>
                <p:nvPr/>
              </p:nvSpPr>
              <p:spPr>
                <a:xfrm>
                  <a:off x="405739" y="3419855"/>
                  <a:ext cx="5989320" cy="457201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400" i="1" dirty="0">
                      <a:solidFill>
                        <a:srgbClr val="6B6B6B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„Steigung der Sekante durch die Punkte  </a:t>
                  </a:r>
                  <a14:m>
                    <m:oMath xmlns:m="http://schemas.openxmlformats.org/officeDocument/2006/math">
                      <m:r>
                        <a:rPr lang="de-DE" sz="1400" b="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𝑃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(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𝑥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₀ | 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𝑓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(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𝑥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₀))</m:t>
                      </m:r>
                    </m:oMath>
                  </a14:m>
                  <a:r>
                    <a:rPr lang="en-US" sz="1400" i="1" dirty="0">
                      <a:solidFill>
                        <a:srgbClr val="6B6B6B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  und  </a:t>
                  </a:r>
                  <a14:m>
                    <m:oMath xmlns:m="http://schemas.openxmlformats.org/officeDocument/2006/math">
                      <m:r>
                        <a:rPr lang="de-DE" sz="1400" b="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𝑄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(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𝑥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 | 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𝑓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(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𝑥</m:t>
                      </m:r>
                      <m:r>
                        <a:rPr lang="en-US" sz="1400" i="1" dirty="0" smtClean="0">
                          <a:solidFill>
                            <a:srgbClr val="6B6B6B"/>
                          </a:solidFill>
                          <a:latin typeface="Cambria Math" panose="02040503050406030204" pitchFamily="18" charset="0"/>
                          <a:ea typeface="Cambria" pitchFamily="34" charset="-122"/>
                          <a:cs typeface="Cambria" pitchFamily="34" charset="-120"/>
                        </a:rPr>
                        <m:t>))</m:t>
                      </m:r>
                    </m:oMath>
                  </a14:m>
                  <a:r>
                    <a:rPr lang="en-US" sz="1400" i="1" dirty="0">
                      <a:solidFill>
                        <a:srgbClr val="6B6B6B"/>
                      </a:solidFill>
                      <a:latin typeface="Cambria" pitchFamily="34" charset="0"/>
                      <a:ea typeface="Cambria" pitchFamily="34" charset="-122"/>
                      <a:cs typeface="Cambria" pitchFamily="34" charset="-120"/>
                    </a:rPr>
                    <a:t>“</a:t>
                  </a:r>
                  <a:endParaRPr lang="en-US" sz="1400" dirty="0"/>
                </a:p>
              </p:txBody>
            </p:sp>
          </mc:Choice>
          <mc:Fallback xmlns="">
            <p:sp>
              <p:nvSpPr>
                <p:cNvPr id="13" name="Text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739" y="3419855"/>
                  <a:ext cx="5989320" cy="457201"/>
                </a:xfrm>
                <a:prstGeom prst="rect">
                  <a:avLst/>
                </a:prstGeom>
                <a:blipFill>
                  <a:blip r:embed="rId3"/>
                  <a:stretch>
                    <a:fillRect l="-1869" r="-701"/>
                  </a:stretch>
                </a:blipFill>
                <a:ln/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Untertitel 2">
            <a:extLst>
              <a:ext uri="{FF2B5EF4-FFF2-40B4-BE49-F238E27FC236}">
                <a16:creationId xmlns:a16="http://schemas.microsoft.com/office/drawing/2014/main" id="{9EF2B7EB-56AD-2934-D7AD-0D8EACC55737}"/>
              </a:ext>
            </a:extLst>
          </p:cNvPr>
          <p:cNvSpPr txBox="1">
            <a:spLocks/>
          </p:cNvSpPr>
          <p:nvPr/>
        </p:nvSpPr>
        <p:spPr>
          <a:xfrm>
            <a:off x="218373" y="162170"/>
            <a:ext cx="5982346" cy="613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Differentialquotient</a:t>
            </a:r>
          </a:p>
        </p:txBody>
      </p:sp>
      <p:cxnSp>
        <p:nvCxnSpPr>
          <p:cNvPr id="26" name="Gerade Verbindung 25">
            <a:extLst>
              <a:ext uri="{FF2B5EF4-FFF2-40B4-BE49-F238E27FC236}">
                <a16:creationId xmlns:a16="http://schemas.microsoft.com/office/drawing/2014/main" id="{591FED4D-926B-BF1C-1419-C0DECFC93442}"/>
              </a:ext>
            </a:extLst>
          </p:cNvPr>
          <p:cNvCxnSpPr/>
          <p:nvPr/>
        </p:nvCxnSpPr>
        <p:spPr>
          <a:xfrm>
            <a:off x="218373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fik 26">
            <a:extLst>
              <a:ext uri="{FF2B5EF4-FFF2-40B4-BE49-F238E27FC236}">
                <a16:creationId xmlns:a16="http://schemas.microsoft.com/office/drawing/2014/main" id="{971D8F94-671D-E8EB-69AB-3F2B9097E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6313" y="122115"/>
            <a:ext cx="913092" cy="388581"/>
          </a:xfrm>
          <a:prstGeom prst="rect">
            <a:avLst/>
          </a:prstGeom>
        </p:spPr>
      </p:pic>
      <p:sp>
        <p:nvSpPr>
          <p:cNvPr id="30" name="Text 2">
            <a:extLst>
              <a:ext uri="{FF2B5EF4-FFF2-40B4-BE49-F238E27FC236}">
                <a16:creationId xmlns:a16="http://schemas.microsoft.com/office/drawing/2014/main" id="{314C0535-24AC-DBF6-3512-2376D4A6CE1C}"/>
              </a:ext>
            </a:extLst>
          </p:cNvPr>
          <p:cNvSpPr/>
          <p:nvPr/>
        </p:nvSpPr>
        <p:spPr>
          <a:xfrm>
            <a:off x="457200" y="2344633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näher x an 0 rückt, desto </a:t>
            </a:r>
            <a:r>
              <a:rPr lang="en-US" sz="1700" b="1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steiler</a:t>
            </a:r>
            <a:r>
              <a:rPr lang="en-US" sz="17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wird die Sekante. Im Grenzfall steht sie </a:t>
            </a:r>
            <a:r>
              <a:rPr lang="en-US" sz="17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senkrecht</a:t>
            </a:r>
            <a:r>
              <a:rPr lang="en-US" sz="17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7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3F9EE16A-AD92-89BA-DEEF-E23F8E52BF6B}"/>
              </a:ext>
            </a:extLst>
          </p:cNvPr>
          <p:cNvSpPr/>
          <p:nvPr/>
        </p:nvSpPr>
        <p:spPr>
          <a:xfrm>
            <a:off x="457200" y="3441913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7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Eine senkrechte Gerade hat </a:t>
            </a:r>
            <a:r>
              <a:rPr lang="en-US" sz="17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keine (definierte) Steigung</a:t>
            </a:r>
            <a:r>
              <a:rPr lang="en-US" sz="17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es gibt also keine Tangente und damit keine Ableitung.</a:t>
            </a:r>
            <a:endParaRPr lang="en-US" sz="1700" dirty="0"/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893ABF31-E040-4B83-0769-DED014A4C409}"/>
              </a:ext>
            </a:extLst>
          </p:cNvPr>
          <p:cNvSpPr/>
          <p:nvPr/>
        </p:nvSpPr>
        <p:spPr>
          <a:xfrm>
            <a:off x="457200" y="4813513"/>
            <a:ext cx="4956048" cy="914400"/>
          </a:xfrm>
          <a:prstGeom prst="roundRect">
            <a:avLst>
              <a:gd name="adj" fmla="val 6000"/>
            </a:avLst>
          </a:prstGeom>
          <a:solidFill>
            <a:srgbClr val="FBEEF0"/>
          </a:solidFill>
          <a:ln w="12700">
            <a:solidFill>
              <a:srgbClr val="B0002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5">
            <a:extLst>
              <a:ext uri="{FF2B5EF4-FFF2-40B4-BE49-F238E27FC236}">
                <a16:creationId xmlns:a16="http://schemas.microsoft.com/office/drawing/2014/main" id="{92EC03C3-185A-0439-1731-5FFA1B9A8E17}"/>
              </a:ext>
            </a:extLst>
          </p:cNvPr>
          <p:cNvSpPr/>
          <p:nvPr/>
        </p:nvSpPr>
        <p:spPr>
          <a:xfrm>
            <a:off x="658368" y="4813513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B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senkrechte „Tangente“  →  keine Steigung  →  nicht differenzierbar</a:t>
            </a:r>
            <a:endParaRPr lang="en-US" sz="1500" dirty="0"/>
          </a:p>
        </p:txBody>
      </p:sp>
      <p:pic>
        <p:nvPicPr>
          <p:cNvPr id="34" name="Image 1" descr="g_u_sek.png">
            <a:extLst>
              <a:ext uri="{FF2B5EF4-FFF2-40B4-BE49-F238E27FC236}">
                <a16:creationId xmlns:a16="http://schemas.microsoft.com/office/drawing/2014/main" id="{10865E08-953D-A28E-AA68-01FD70F94F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585615"/>
            <a:ext cx="4303776" cy="30126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/mnt/user-data/uploads/9997_rCsxXt7kdL.png"/>
          <p:cNvPicPr>
            <a:picLocks noChangeAspect="1"/>
          </p:cNvPicPr>
          <p:nvPr/>
        </p:nvPicPr>
        <p:blipFill>
          <a:blip r:embed="rId3"/>
          <a:srcRect b="11973"/>
          <a:stretch>
            <a:fillRect/>
          </a:stretch>
        </p:blipFill>
        <p:spPr>
          <a:xfrm>
            <a:off x="2331720" y="1143000"/>
            <a:ext cx="7498080" cy="36301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2336" y="5248656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 unserem Beispiel folgt die Umkehrung: </a:t>
            </a:r>
            <a:r>
              <a:rPr lang="en-US" sz="1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 f an einer Stelle nicht stetig, kann f dort auch nicht differenzierbar sein.</a:t>
            </a:r>
            <a:endParaRPr lang="en-US" sz="1600" dirty="0"/>
          </a:p>
        </p:txBody>
      </p:sp>
      <p:sp>
        <p:nvSpPr>
          <p:cNvPr id="7" name="Untertitel 2">
            <a:extLst>
              <a:ext uri="{FF2B5EF4-FFF2-40B4-BE49-F238E27FC236}">
                <a16:creationId xmlns:a16="http://schemas.microsoft.com/office/drawing/2014/main" id="{CA8D86D2-9085-6EE6-BAF8-992D20FB6861}"/>
              </a:ext>
            </a:extLst>
          </p:cNvPr>
          <p:cNvSpPr txBox="1">
            <a:spLocks/>
          </p:cNvSpPr>
          <p:nvPr/>
        </p:nvSpPr>
        <p:spPr>
          <a:xfrm>
            <a:off x="218373" y="162170"/>
            <a:ext cx="5982346" cy="61350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2300" dirty="0">
                <a:latin typeface="Arial Rounded MT Bold" panose="020F0704030504030204" pitchFamily="34" charset="77"/>
                <a:ea typeface="Roboto" panose="02000000000000000000" pitchFamily="2" charset="0"/>
                <a:cs typeface="Roboto" panose="02000000000000000000" pitchFamily="2" charset="0"/>
              </a:rPr>
              <a:t>Differenzierbarkeit</a:t>
            </a:r>
          </a:p>
        </p:txBody>
      </p:sp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6FE17447-EF23-A3C0-C797-28F8046414BF}"/>
              </a:ext>
            </a:extLst>
          </p:cNvPr>
          <p:cNvCxnSpPr/>
          <p:nvPr/>
        </p:nvCxnSpPr>
        <p:spPr>
          <a:xfrm>
            <a:off x="218373" y="572027"/>
            <a:ext cx="11891032" cy="0"/>
          </a:xfrm>
          <a:prstGeom prst="line">
            <a:avLst/>
          </a:prstGeom>
          <a:ln w="12700">
            <a:solidFill>
              <a:srgbClr val="C710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9F6719F1-B690-7755-66C4-C9FF18125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6313" y="122115"/>
            <a:ext cx="913092" cy="3885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Macintosh PowerPoint</Application>
  <PresentationFormat>Breitbild</PresentationFormat>
  <Paragraphs>26</Paragraphs>
  <Slides>4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10" baseType="lpstr">
      <vt:lpstr>Arial</vt:lpstr>
      <vt:lpstr>Arial Rounded MT Bold</vt:lpstr>
      <vt:lpstr>Bahnschrift</vt:lpstr>
      <vt:lpstr>Cambria</vt:lpstr>
      <vt:lpstr>Cambria Math</vt:lpstr>
      <vt:lpstr>Office Theme</vt:lpstr>
      <vt:lpstr>Differenzierbarkeit  Warum aus Unstetigkeit sofort „nicht differenzierbar“ folgt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Sprung ist nie differenzierbar</dc:title>
  <dc:subject>PptxGenJS Presentation</dc:subject>
  <dc:creator>RWB Essen</dc:creator>
  <cp:lastModifiedBy>Olaf Kott</cp:lastModifiedBy>
  <cp:revision>14</cp:revision>
  <dcterms:created xsi:type="dcterms:W3CDTF">2026-09-06T11:11:26Z</dcterms:created>
  <dcterms:modified xsi:type="dcterms:W3CDTF">2026-09-08T10:59:54Z</dcterms:modified>
</cp:coreProperties>
</file>