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92" r:id="rId2"/>
    <p:sldId id="293" r:id="rId3"/>
    <p:sldId id="301" r:id="rId4"/>
    <p:sldId id="295" r:id="rId5"/>
    <p:sldId id="302" r:id="rId6"/>
    <p:sldId id="300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1045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863"/>
  </p:normalViewPr>
  <p:slideViewPr>
    <p:cSldViewPr snapToGrid="0" snapToObjects="1">
      <p:cViewPr varScale="1">
        <p:scale>
          <a:sx n="120" d="100"/>
          <a:sy n="120" d="100"/>
        </p:scale>
        <p:origin x="86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B3D77-A96E-1045-A472-ACCFBED8BB46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3213E-B466-E74A-AA6B-7CE5494FBAD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999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5A23E6-6197-0D45-A507-51F7C9CB6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84521A-5E66-784A-9D61-B6BC649FC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A9B568-650B-FE45-8850-2042D55D7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060324-016E-574F-992B-C5F23126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24EB4-97DC-FB42-98C9-FBAB497A0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516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43DCC4-4C66-FE4D-B0A4-FA84A8DB9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A2B100-C41D-BC49-9D9E-7EEBBF35F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FAB261-89F3-6A41-9ADC-63F7B3547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6ECF11-0AE3-AB49-A9A0-D64BE968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5CCD44-32D6-AA40-8548-4836B7DFD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9400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AF5A7C-A2EA-9F42-8641-65EAFB7F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7790CC-E3AF-EE43-BEDA-75C5AA70F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2E7D5D-72D9-AE42-867A-41EE64AE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AFB8F8-D411-014D-8C47-635B174D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4626C6-8BCF-7D40-8AC6-A7B81B2B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153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7BC6AE-FDFB-E94F-BB13-FB5EC94F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09584E-6B56-DB46-92C1-9B8A5E24C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E01E97-FC0D-F642-B3FE-9560FEA70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D75D49-C757-9145-BAFA-AEF3F4A3B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82C994-52BD-B543-ABF4-849EDAB01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7E98EC-721A-DA4D-BEC5-81A903772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0506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5A7FF5-024F-7247-879F-56460C58A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ED9920-7174-CE41-96C3-46AB9728B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4C3132F-592B-E149-B3F5-BC074A167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605A727-90D5-2C4E-A6E7-2C75C1533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B52A31A-0B2A-FF4A-8651-66A6D9A3A1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3CF0F1-DB04-8343-9D9F-9C04DB13E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68D1032-991C-B446-A228-089587021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78A344C-C74C-0F44-828D-21AB6B91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85737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7F35F6-F86A-6A4C-A311-2FDC77C2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C161B36-B232-9B42-8989-425A7D11C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90CEF9-35E8-2C4A-96BA-596D3F46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6B81DE-EB56-1846-9B23-5A4C6DC19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6976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53356BC-A1E2-434D-A56F-3CDBB61AE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B4507D-12E7-C542-A7F9-A9A43455B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D3345D-7549-9148-99DC-D8268EB04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6725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2ED394-8E4C-C340-90C6-1AEAB4EC0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8C7FAE-C794-8241-B787-386C5D851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071C23-977D-4F44-AA4B-4C10DCD2D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05EF7EB-D89D-BC43-AA29-E6EBB9E96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51BEA55-384A-0345-ABE8-EF5EDB7D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B73415-9EC4-8042-8F16-C990C3B74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90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95BB6A-0D45-C24A-819D-E490A6A66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0D4673E-890B-6D4F-8571-5DAF28BD99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E69D1C1-3A7C-2345-BD37-44556BB82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2A872F-98AF-7341-A8E6-75E7876A3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185872-442C-5542-85DA-FB9627A30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5FBB23-77F1-324B-A33B-C47D23E4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16819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B9A4DA-1CA7-3342-90CB-26950EB75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DE93F1-5691-F540-854C-54D372C13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B19895-9DFF-7F4F-BDBF-0D1A5B357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7AA4C7-56D6-4146-8C9B-C71B87579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A6CF19-778E-C14C-B585-CBDC1264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1055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8F48358-9AB9-FD44-A63B-3CACD3BBEF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652109-6F44-9B4D-8C4F-B8E7B67E9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3A9F50-D32D-7345-96A8-59203825B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4F994F-BD39-E043-8861-193B16DF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2C11EF-2EF3-EE42-BE9C-B727EBD9A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763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15FBE73-8C8F-AE44-A526-5E3B661B2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BF4092-22D4-1C4B-85AC-5BBF8D7C7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C2256E-ADC5-D64C-AD68-8360AA1DE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26FA1D-F1FE-7247-9A3B-07BC91566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89332A-7C71-F949-80A5-711F18EFC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934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4">
            <a:extLst>
              <a:ext uri="{FF2B5EF4-FFF2-40B4-BE49-F238E27FC236}">
                <a16:creationId xmlns:a16="http://schemas.microsoft.com/office/drawing/2014/main" id="{3ED8D9AD-675D-032E-15D9-72689F944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1122363"/>
            <a:ext cx="11535508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de-DE" sz="67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Differenzierbarkeit</a:t>
            </a:r>
            <a:br>
              <a:rPr lang="de-DE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de-DE" sz="4400" dirty="0">
                <a:latin typeface="Bahnschrift" panose="020B0502040204020203" pitchFamily="34" charset="0"/>
                <a:ea typeface="Roboto" panose="02000000000000000000" pitchFamily="2" charset="0"/>
                <a:cs typeface="Roboto" panose="02000000000000000000" pitchFamily="2" charset="0"/>
              </a:rPr>
              <a:t>Wann verläuft ein Graph ohne Knick?</a:t>
            </a: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9AAECF12-4078-AC03-FC24-B8CD76CE6408}"/>
              </a:ext>
            </a:extLst>
          </p:cNvPr>
          <p:cNvCxnSpPr>
            <a:cxnSpLocks/>
          </p:cNvCxnSpPr>
          <p:nvPr/>
        </p:nvCxnSpPr>
        <p:spPr>
          <a:xfrm>
            <a:off x="2196611" y="2565252"/>
            <a:ext cx="9196603" cy="0"/>
          </a:xfrm>
          <a:prstGeom prst="line">
            <a:avLst/>
          </a:prstGeom>
          <a:ln w="28575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692425E3-FF97-5BDE-2C28-D5657F2D06BD}"/>
              </a:ext>
            </a:extLst>
          </p:cNvPr>
          <p:cNvSpPr/>
          <p:nvPr/>
        </p:nvSpPr>
        <p:spPr>
          <a:xfrm rot="1136847">
            <a:off x="10632533" y="5427310"/>
            <a:ext cx="2696308" cy="18112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E592626-D435-803A-76A1-CDFB2EB70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595" y="5944336"/>
            <a:ext cx="913092" cy="388581"/>
          </a:xfrm>
          <a:prstGeom prst="rect">
            <a:avLst/>
          </a:prstGeom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A1CC6754-56FE-DD8A-788C-73466ACC0861}"/>
              </a:ext>
            </a:extLst>
          </p:cNvPr>
          <p:cNvSpPr/>
          <p:nvPr/>
        </p:nvSpPr>
        <p:spPr>
          <a:xfrm rot="2621423">
            <a:off x="9243459" y="6416111"/>
            <a:ext cx="2696308" cy="1811215"/>
          </a:xfrm>
          <a:prstGeom prst="rect">
            <a:avLst/>
          </a:prstGeom>
          <a:solidFill>
            <a:srgbClr val="C710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5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4AD0-9866-B3B6-69B5-90C1B14E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2AB782B-CE69-19BB-DF4F-784CB2272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373" y="162170"/>
            <a:ext cx="5982346" cy="613501"/>
          </a:xfrm>
        </p:spPr>
        <p:txBody>
          <a:bodyPr>
            <a:normAutofit/>
          </a:bodyPr>
          <a:lstStyle/>
          <a:p>
            <a:pPr algn="l"/>
            <a:r>
              <a:rPr lang="de-DE" sz="23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Differenzierbarkeit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9CED610-D4E9-20F7-6EE7-726901F219AF}"/>
              </a:ext>
            </a:extLst>
          </p:cNvPr>
          <p:cNvCxnSpPr/>
          <p:nvPr/>
        </p:nvCxnSpPr>
        <p:spPr>
          <a:xfrm>
            <a:off x="218373" y="572027"/>
            <a:ext cx="11891032" cy="0"/>
          </a:xfrm>
          <a:prstGeom prst="line">
            <a:avLst/>
          </a:prstGeom>
          <a:ln w="12700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220D7655-6591-9C17-FB75-8161B2E1B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6313" y="122115"/>
            <a:ext cx="913092" cy="388581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519C3385-100B-89DE-F1BC-CBB8BA1D6A82}"/>
              </a:ext>
            </a:extLst>
          </p:cNvPr>
          <p:cNvSpPr txBox="1"/>
          <p:nvPr/>
        </p:nvSpPr>
        <p:spPr>
          <a:xfrm>
            <a:off x="243908" y="775671"/>
            <a:ext cx="5982347" cy="467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0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 eine Funktion an der Nahtstelle </a:t>
            </a:r>
            <a:r>
              <a:rPr lang="en-US" sz="20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stetig</a:t>
            </a:r>
            <a:r>
              <a:rPr lang="en-US" sz="20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(kein Sprung), hat der Übergang entweder einen </a:t>
            </a:r>
            <a:r>
              <a:rPr lang="en-US" sz="20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Knick</a:t>
            </a:r>
            <a:r>
              <a:rPr lang="en-US" sz="20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oder verläuft </a:t>
            </a:r>
            <a:r>
              <a:rPr lang="en-US" sz="20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“glatt”</a:t>
            </a:r>
            <a:r>
              <a:rPr lang="en-US" sz="20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v"/>
            </a:pPr>
            <a:endParaRPr lang="en-US" sz="2000" b="1" dirty="0">
              <a:solidFill>
                <a:srgbClr val="1D1D1F"/>
              </a:solidFill>
              <a:latin typeface="Cambria" pitchFamily="34" charset="0"/>
              <a:ea typeface="Cambria" pitchFamily="34" charset="-122"/>
            </a:endParaRPr>
          </a:p>
          <a:p>
            <a:pPr>
              <a:lnSpc>
                <a:spcPts val="3000"/>
              </a:lnSpc>
            </a:pPr>
            <a:endParaRPr lang="de-DE" sz="2000" b="1" dirty="0"/>
          </a:p>
          <a:p>
            <a:pPr>
              <a:lnSpc>
                <a:spcPts val="3000"/>
              </a:lnSpc>
            </a:pPr>
            <a:r>
              <a:rPr lang="de-DE" sz="2000" b="1" dirty="0"/>
              <a:t>An der Nahtstelle sind zwei Fälle möglich: 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v"/>
            </a:pPr>
            <a:endParaRPr lang="de-DE" sz="2000" dirty="0"/>
          </a:p>
          <a:p>
            <a:pPr marL="800100" lvl="1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accent6">
                    <a:lumMod val="75000"/>
                  </a:schemeClr>
                </a:solidFill>
              </a:rPr>
              <a:t>Der Übergang ist glatt</a:t>
            </a:r>
            <a:br>
              <a:rPr lang="de-DE" sz="20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de-DE" sz="20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differenzierbar</a:t>
            </a:r>
          </a:p>
          <a:p>
            <a:pPr marL="800100" lvl="1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endParaRPr lang="de-DE" sz="2000" dirty="0">
              <a:sym typeface="Wingdings" panose="05000000000000000000" pitchFamily="2" charset="2"/>
            </a:endParaRPr>
          </a:p>
          <a:p>
            <a:pPr marL="800100" lvl="1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00000"/>
                </a:solidFill>
                <a:sym typeface="Wingdings" panose="05000000000000000000" pitchFamily="2" charset="2"/>
              </a:rPr>
              <a:t>Es entsteht ein Knick</a:t>
            </a:r>
            <a:br>
              <a:rPr lang="de-DE" sz="2000" dirty="0">
                <a:solidFill>
                  <a:srgbClr val="C00000"/>
                </a:solidFill>
                <a:sym typeface="Wingdings" panose="05000000000000000000" pitchFamily="2" charset="2"/>
              </a:rPr>
            </a:br>
            <a:r>
              <a:rPr lang="de-DE" sz="2000" dirty="0">
                <a:solidFill>
                  <a:srgbClr val="C00000"/>
                </a:solidFill>
                <a:sym typeface="Wingdings" panose="05000000000000000000" pitchFamily="2" charset="2"/>
              </a:rPr>
              <a:t> </a:t>
            </a:r>
            <a:r>
              <a:rPr lang="de-DE" sz="2000" b="1" dirty="0">
                <a:solidFill>
                  <a:srgbClr val="C00000"/>
                </a:solidFill>
                <a:sym typeface="Wingdings" panose="05000000000000000000" pitchFamily="2" charset="2"/>
              </a:rPr>
              <a:t>nicht differenzierbar</a:t>
            </a:r>
            <a:endParaRPr lang="de-DE" sz="2000" b="1" dirty="0">
              <a:solidFill>
                <a:srgbClr val="C00000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D8F9E12-D017-37D0-D353-AED454997C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60524" y="4599935"/>
            <a:ext cx="3531476" cy="2201917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Image 1" descr="g_dm_concept.png">
            <a:extLst>
              <a:ext uri="{FF2B5EF4-FFF2-40B4-BE49-F238E27FC236}">
                <a16:creationId xmlns:a16="http://schemas.microsoft.com/office/drawing/2014/main" id="{17008720-6760-2BBF-F98E-2C7BE9E58D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364"/>
          <a:stretch>
            <a:fillRect/>
          </a:stretch>
        </p:blipFill>
        <p:spPr>
          <a:xfrm>
            <a:off x="6331746" y="775671"/>
            <a:ext cx="2694386" cy="2496830"/>
          </a:xfrm>
          <a:prstGeom prst="rect">
            <a:avLst/>
          </a:prstGeom>
        </p:spPr>
      </p:pic>
      <p:pic>
        <p:nvPicPr>
          <p:cNvPr id="5" name="Image 1" descr="g_dm_concept.png">
            <a:extLst>
              <a:ext uri="{FF2B5EF4-FFF2-40B4-BE49-F238E27FC236}">
                <a16:creationId xmlns:a16="http://schemas.microsoft.com/office/drawing/2014/main" id="{AB0E396F-9374-73B1-B3E5-30D178C3E6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364"/>
          <a:stretch>
            <a:fillRect/>
          </a:stretch>
        </p:blipFill>
        <p:spPr>
          <a:xfrm>
            <a:off x="8958472" y="775671"/>
            <a:ext cx="2694387" cy="249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43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6B7E2-6620-4BD5-0E1B-B5BB1DC5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594929D1-80B9-AA89-B78F-EB38106F0B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84" y="162170"/>
            <a:ext cx="5982346" cy="613501"/>
          </a:xfrm>
        </p:spPr>
        <p:txBody>
          <a:bodyPr>
            <a:normAutofit/>
          </a:bodyPr>
          <a:lstStyle/>
          <a:p>
            <a:pPr algn="l"/>
            <a:r>
              <a:rPr lang="de-DE" sz="23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So prüfst du: Entscheidungsbaum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36644BB5-2392-6AB0-1D50-FD30209065E2}"/>
              </a:ext>
            </a:extLst>
          </p:cNvPr>
          <p:cNvCxnSpPr/>
          <p:nvPr/>
        </p:nvCxnSpPr>
        <p:spPr>
          <a:xfrm>
            <a:off x="150484" y="572027"/>
            <a:ext cx="11891032" cy="0"/>
          </a:xfrm>
          <a:prstGeom prst="line">
            <a:avLst/>
          </a:prstGeom>
          <a:ln w="12700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5C0953D9-C206-8F9E-1D35-210901968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424" y="122115"/>
            <a:ext cx="913092" cy="388581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82D9E9D8-71F2-3F21-8A9B-8D01E1206F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60524" y="4599935"/>
            <a:ext cx="3531476" cy="2201917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9DE9551C-9C02-256E-8821-21296A9B4759}"/>
              </a:ext>
            </a:extLst>
          </p:cNvPr>
          <p:cNvSpPr/>
          <p:nvPr/>
        </p:nvSpPr>
        <p:spPr>
          <a:xfrm>
            <a:off x="453468" y="1111322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E9F2FB"/>
          </a:solidFill>
          <a:ln w="15240">
            <a:solidFill>
              <a:srgbClr val="1D70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81EC2F59-04D0-BC0C-B9DE-40C254EE23BE}"/>
              </a:ext>
            </a:extLst>
          </p:cNvPr>
          <p:cNvSpPr/>
          <p:nvPr/>
        </p:nvSpPr>
        <p:spPr>
          <a:xfrm>
            <a:off x="526620" y="1111322"/>
            <a:ext cx="3602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Ist f stetig?  (kein Sprung?)</a:t>
            </a:r>
            <a:endParaRPr lang="en-US" sz="135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B958B6BC-CF76-65FF-ED58-6E79C423C621}"/>
              </a:ext>
            </a:extLst>
          </p:cNvPr>
          <p:cNvSpPr/>
          <p:nvPr/>
        </p:nvSpPr>
        <p:spPr>
          <a:xfrm>
            <a:off x="453468" y="2620082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E9F2FB"/>
          </a:solidFill>
          <a:ln w="15240">
            <a:solidFill>
              <a:srgbClr val="1D70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BAF2B236-7E30-3670-7237-CEF5B553EB50}"/>
              </a:ext>
            </a:extLst>
          </p:cNvPr>
          <p:cNvSpPr/>
          <p:nvPr/>
        </p:nvSpPr>
        <p:spPr>
          <a:xfrm>
            <a:off x="526620" y="2620082"/>
            <a:ext cx="3602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f₁′(x₀) = f₂′(x₀)?  (kein Knick?)</a:t>
            </a:r>
            <a:endParaRPr lang="en-US" sz="125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14535FED-3788-A253-8102-96F77BB05922}"/>
              </a:ext>
            </a:extLst>
          </p:cNvPr>
          <p:cNvSpPr/>
          <p:nvPr/>
        </p:nvSpPr>
        <p:spPr>
          <a:xfrm>
            <a:off x="910668" y="4128842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3EF0C8E2-DADA-452A-3DBD-21903CD86237}"/>
              </a:ext>
            </a:extLst>
          </p:cNvPr>
          <p:cNvSpPr/>
          <p:nvPr/>
        </p:nvSpPr>
        <p:spPr>
          <a:xfrm>
            <a:off x="983820" y="4128842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differenzierbar ✓</a:t>
            </a:r>
            <a:endParaRPr lang="en-US" sz="15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551137EB-3155-C429-97C7-9CCD82F74130}"/>
              </a:ext>
            </a:extLst>
          </p:cNvPr>
          <p:cNvSpPr/>
          <p:nvPr/>
        </p:nvSpPr>
        <p:spPr>
          <a:xfrm>
            <a:off x="4842588" y="1111322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FDECEA"/>
          </a:solidFill>
          <a:ln w="15240">
            <a:solidFill>
              <a:srgbClr val="B0002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3CB30235-775F-B943-8710-D746120ED561}"/>
              </a:ext>
            </a:extLst>
          </p:cNvPr>
          <p:cNvSpPr/>
          <p:nvPr/>
        </p:nvSpPr>
        <p:spPr>
          <a:xfrm>
            <a:off x="4915740" y="1111322"/>
            <a:ext cx="2459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nicht differenzierbar</a:t>
            </a:r>
            <a:endParaRPr lang="en-US" sz="125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D618544B-598E-D2BA-5843-05D3DFE90B81}"/>
              </a:ext>
            </a:extLst>
          </p:cNvPr>
          <p:cNvSpPr/>
          <p:nvPr/>
        </p:nvSpPr>
        <p:spPr>
          <a:xfrm>
            <a:off x="4842588" y="2620082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FDECEA"/>
          </a:solidFill>
          <a:ln w="15240">
            <a:solidFill>
              <a:srgbClr val="B0002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FB25B263-F43F-593F-19DC-66330A885AC9}"/>
              </a:ext>
            </a:extLst>
          </p:cNvPr>
          <p:cNvSpPr/>
          <p:nvPr/>
        </p:nvSpPr>
        <p:spPr>
          <a:xfrm>
            <a:off x="4915740" y="2620082"/>
            <a:ext cx="2459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Knick → nicht diff.bar</a:t>
            </a:r>
            <a:endParaRPr lang="en-US" sz="125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06E21314-59DB-847C-44A2-CD330CB7D3B2}"/>
              </a:ext>
            </a:extLst>
          </p:cNvPr>
          <p:cNvSpPr/>
          <p:nvPr/>
        </p:nvSpPr>
        <p:spPr>
          <a:xfrm>
            <a:off x="2327988" y="1769690"/>
            <a:ext cx="0" cy="850392"/>
          </a:xfrm>
          <a:prstGeom prst="line">
            <a:avLst/>
          </a:prstGeom>
          <a:noFill/>
          <a:ln w="20320">
            <a:solidFill>
              <a:srgbClr val="1B5E20"/>
            </a:solidFill>
            <a:prstDash val="solid"/>
            <a:tailEnd type="triangle"/>
          </a:ln>
        </p:spPr>
        <p:txBody>
          <a:bodyPr/>
          <a:lstStyle/>
          <a:p>
            <a:endParaRPr lang="de-DE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69A8701F-93B0-78A4-F4CF-D5E5900C7841}"/>
              </a:ext>
            </a:extLst>
          </p:cNvPr>
          <p:cNvSpPr/>
          <p:nvPr/>
        </p:nvSpPr>
        <p:spPr>
          <a:xfrm>
            <a:off x="1870060" y="204401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20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6385E941-CFF6-C6FB-01EA-7310CCA9FF1E}"/>
              </a:ext>
            </a:extLst>
          </p:cNvPr>
          <p:cNvSpPr/>
          <p:nvPr/>
        </p:nvSpPr>
        <p:spPr>
          <a:xfrm>
            <a:off x="2327988" y="3278450"/>
            <a:ext cx="0" cy="850392"/>
          </a:xfrm>
          <a:prstGeom prst="line">
            <a:avLst/>
          </a:prstGeom>
          <a:noFill/>
          <a:ln w="20320">
            <a:solidFill>
              <a:srgbClr val="1B5E20"/>
            </a:solidFill>
            <a:prstDash val="solid"/>
            <a:tailEnd type="triangle"/>
          </a:ln>
        </p:spPr>
        <p:txBody>
          <a:bodyPr/>
          <a:lstStyle/>
          <a:p>
            <a:endParaRPr lang="de-DE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5C65DD7B-32D4-EF00-0B47-49DBF8855CC1}"/>
              </a:ext>
            </a:extLst>
          </p:cNvPr>
          <p:cNvSpPr/>
          <p:nvPr/>
        </p:nvSpPr>
        <p:spPr>
          <a:xfrm>
            <a:off x="1870060" y="355277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200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DE14FD4F-ED53-0CE6-6E44-64E6E6099A5A}"/>
              </a:ext>
            </a:extLst>
          </p:cNvPr>
          <p:cNvSpPr/>
          <p:nvPr/>
        </p:nvSpPr>
        <p:spPr>
          <a:xfrm>
            <a:off x="4202508" y="1440506"/>
            <a:ext cx="640080" cy="0"/>
          </a:xfrm>
          <a:prstGeom prst="line">
            <a:avLst/>
          </a:prstGeom>
          <a:noFill/>
          <a:ln w="20320">
            <a:solidFill>
              <a:srgbClr val="B00020"/>
            </a:solidFill>
            <a:prstDash val="solid"/>
            <a:tailEnd type="triangle"/>
          </a:ln>
        </p:spPr>
        <p:txBody>
          <a:bodyPr/>
          <a:lstStyle/>
          <a:p>
            <a:endParaRPr lang="de-DE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A7799E8A-73D7-496A-08D9-B2FA4AD0D2CB}"/>
              </a:ext>
            </a:extLst>
          </p:cNvPr>
          <p:cNvSpPr/>
          <p:nvPr/>
        </p:nvSpPr>
        <p:spPr>
          <a:xfrm>
            <a:off x="4257372" y="112961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1200" dirty="0"/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661E7687-87F6-0A4F-24A8-DE19CED944F0}"/>
              </a:ext>
            </a:extLst>
          </p:cNvPr>
          <p:cNvSpPr/>
          <p:nvPr/>
        </p:nvSpPr>
        <p:spPr>
          <a:xfrm>
            <a:off x="4202508" y="2949266"/>
            <a:ext cx="640080" cy="0"/>
          </a:xfrm>
          <a:prstGeom prst="line">
            <a:avLst/>
          </a:prstGeom>
          <a:noFill/>
          <a:ln w="20320">
            <a:solidFill>
              <a:srgbClr val="B00020"/>
            </a:solidFill>
            <a:prstDash val="solid"/>
            <a:tailEnd type="triangle"/>
          </a:ln>
        </p:spPr>
        <p:txBody>
          <a:bodyPr/>
          <a:lstStyle/>
          <a:p>
            <a:endParaRPr lang="de-DE" dirty="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CBEBB161-DCFB-BC4C-361F-D98A5A570A46}"/>
              </a:ext>
            </a:extLst>
          </p:cNvPr>
          <p:cNvSpPr/>
          <p:nvPr/>
        </p:nvSpPr>
        <p:spPr>
          <a:xfrm>
            <a:off x="4257372" y="263837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1200" dirty="0"/>
          </a:p>
        </p:txBody>
      </p:sp>
      <p:pic>
        <p:nvPicPr>
          <p:cNvPr id="37" name="Image 1" descr="g_mini_sprung.png">
            <a:extLst>
              <a:ext uri="{FF2B5EF4-FFF2-40B4-BE49-F238E27FC236}">
                <a16:creationId xmlns:a16="http://schemas.microsoft.com/office/drawing/2014/main" id="{D4E5FEFC-FA1E-BF23-1D79-5C9B5923D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508" y="837002"/>
            <a:ext cx="2286000" cy="1188720"/>
          </a:xfrm>
          <a:prstGeom prst="rect">
            <a:avLst/>
          </a:prstGeom>
        </p:spPr>
      </p:pic>
      <p:pic>
        <p:nvPicPr>
          <p:cNvPr id="38" name="Image 2" descr="g_mini_knick.png">
            <a:extLst>
              <a:ext uri="{FF2B5EF4-FFF2-40B4-BE49-F238E27FC236}">
                <a16:creationId xmlns:a16="http://schemas.microsoft.com/office/drawing/2014/main" id="{0DEEF74B-A62C-DC5B-D1C7-674575AC2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508" y="2345762"/>
            <a:ext cx="2286000" cy="1188720"/>
          </a:xfrm>
          <a:prstGeom prst="rect">
            <a:avLst/>
          </a:prstGeom>
        </p:spPr>
      </p:pic>
      <p:pic>
        <p:nvPicPr>
          <p:cNvPr id="39" name="Image 3" descr="g_mini_glatt.png">
            <a:extLst>
              <a:ext uri="{FF2B5EF4-FFF2-40B4-BE49-F238E27FC236}">
                <a16:creationId xmlns:a16="http://schemas.microsoft.com/office/drawing/2014/main" id="{9962976E-BD41-9A23-93A1-3C5E96B3A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3908" y="3964250"/>
            <a:ext cx="2286000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90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4AD0-9866-B3B6-69B5-90C1B14E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2AB782B-CE69-19BB-DF4F-784CB2272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84" y="162170"/>
            <a:ext cx="5982346" cy="613501"/>
          </a:xfrm>
        </p:spPr>
        <p:txBody>
          <a:bodyPr>
            <a:normAutofit/>
          </a:bodyPr>
          <a:lstStyle/>
          <a:p>
            <a:pPr algn="l"/>
            <a:r>
              <a:rPr lang="de-DE" sz="23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Beispiel 1 – differenzierbar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9CED610-D4E9-20F7-6EE7-726901F219AF}"/>
              </a:ext>
            </a:extLst>
          </p:cNvPr>
          <p:cNvCxnSpPr/>
          <p:nvPr/>
        </p:nvCxnSpPr>
        <p:spPr>
          <a:xfrm>
            <a:off x="150484" y="572027"/>
            <a:ext cx="11891032" cy="0"/>
          </a:xfrm>
          <a:prstGeom prst="line">
            <a:avLst/>
          </a:prstGeom>
          <a:ln w="12700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220D7655-6591-9C17-FB75-8161B2E1B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424" y="122115"/>
            <a:ext cx="913092" cy="388581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FD8F9E12-D017-37D0-D353-AED454997C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60524" y="4599935"/>
            <a:ext cx="3531476" cy="2201917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7504E27-1AC9-4A71-99D6-886387B1D7CA}"/>
              </a:ext>
            </a:extLst>
          </p:cNvPr>
          <p:cNvSpPr/>
          <p:nvPr/>
        </p:nvSpPr>
        <p:spPr>
          <a:xfrm>
            <a:off x="68580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4B650F06-2C82-4F4C-A3D1-D86C0C3A3326}"/>
              </a:ext>
            </a:extLst>
          </p:cNvPr>
          <p:cNvSpPr/>
          <p:nvPr/>
        </p:nvSpPr>
        <p:spPr>
          <a:xfrm>
            <a:off x="6858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73F023E5-2C51-45F1-8725-D2951E6046F3}"/>
                  </a:ext>
                </a:extLst>
              </p:cNvPr>
              <p:cNvSpPr txBox="1"/>
              <p:nvPr/>
            </p:nvSpPr>
            <p:spPr>
              <a:xfrm>
                <a:off x="362277" y="2828835"/>
                <a:ext cx="3427028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" pitchFamily="34" charset="-122"/>
                    <a:cs typeface="Cambria" pitchFamily="34" charset="-120"/>
                  </a:rPr>
                  <a:t>Nahtstelle: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b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𝒙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𝒐</m:t>
                        </m:r>
                      </m:sub>
                    </m:sSub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" pitchFamily="34" charset="-122"/>
                  <a:cs typeface="Cambria" pitchFamily="34" charset="-120"/>
                </a:endParaRPr>
              </a:p>
              <a:p>
                <a:endParaRPr lang="en-US" b="1" dirty="0">
                  <a:latin typeface="Cambria Math" panose="02040503050406030204" pitchFamily="18" charset="0"/>
                  <a:ea typeface="Cambria" pitchFamily="34" charset="-122"/>
                  <a:cs typeface="Cambria" pitchFamily="34" charset="-120"/>
                </a:endParaRPr>
              </a:p>
              <a:p>
                <a:pPr marL="342900" indent="-342900">
                  <a:buAutoNum type="arabicPeriod"/>
                </a:pPr>
                <a:r>
                  <a:rPr lang="en-US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" pitchFamily="34" charset="-122"/>
                    <a:cs typeface="Cambria" pitchFamily="34" charset="-120"/>
                  </a:rPr>
                  <a:t>stetig: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b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𝒇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d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𝟏</m:t>
                        </m:r>
                      </m:e>
                    </m:d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sSub>
                      <m:sSub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b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𝒇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d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𝟏</m:t>
                        </m:r>
                      </m:e>
                    </m:d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" pitchFamily="34" charset="-122"/>
                    <a:cs typeface="Cambria" pitchFamily="34" charset="-120"/>
                  </a:rPr>
                  <a:t>    </a:t>
                </a:r>
                <a:r>
                  <a:rPr lang="en-US" dirty="0">
                    <a:solidFill>
                      <a:srgbClr val="1D1D1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✓</a:t>
                </a:r>
              </a:p>
              <a:p>
                <a:pPr marL="342900" indent="-342900">
                  <a:buAutoNum type="arabicPeriod"/>
                </a:pPr>
                <a:endParaRPr lang="en-US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endParaRPr>
              </a:p>
              <a:p>
                <a:pPr marL="342900" indent="-342900">
                  <a:buAutoNum type="arabicPeriod"/>
                </a:pPr>
                <a:r>
                  <a:rPr lang="en-US" b="1" dirty="0">
                    <a:solidFill>
                      <a:srgbClr val="1D1D1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Ableitungen</a:t>
                </a:r>
                <a:endParaRPr lang="en-US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" pitchFamily="34" charset="-122"/>
                  <a:cs typeface="Cambria" pitchFamily="34" charset="-120"/>
                </a:endParaRPr>
              </a:p>
              <a:p>
                <a:endParaRPr lang="en-US" b="1" i="1" dirty="0">
                  <a:solidFill>
                    <a:srgbClr val="2E7D32"/>
                  </a:solidFill>
                  <a:latin typeface="Cambria Math" panose="02040503050406030204" pitchFamily="18" charset="0"/>
                  <a:ea typeface="Cambria" pitchFamily="34" charset="-122"/>
                  <a:cs typeface="Cambria" pitchFamily="34" charset="-120"/>
                </a:endParaRPr>
              </a:p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𝒇</m:t>
                    </m:r>
                    <m:r>
                      <a:rPr lang="de-DE" b="1" i="1" smtClean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′</m:t>
                    </m:r>
                    <m:r>
                      <a:rPr lang="en-US" b="1" i="1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₁(</m:t>
                    </m:r>
                    <m:r>
                      <a:rPr lang="en-US" b="1" i="1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) =2 </m:t>
                    </m:r>
                    <m:r>
                      <m:rPr>
                        <m:nor/>
                      </m:rPr>
                      <a:rPr lang="en-US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" pitchFamily="34" charset="0"/>
                        <a:ea typeface="Cambria" pitchFamily="34" charset="-122"/>
                        <a:cs typeface="Cambria" pitchFamily="34" charset="-120"/>
                      </a:rPr>
                      <m:t>·</m:t>
                    </m:r>
                    <m:r>
                      <m:rPr>
                        <m:nor/>
                      </m:rPr>
                      <a:rPr lang="de-DE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" pitchFamily="34" charset="0"/>
                        <a:ea typeface="Cambria" pitchFamily="34" charset="-122"/>
                        <a:cs typeface="Cambria" pitchFamily="34" charset="-120"/>
                      </a:rPr>
                      <m:t> 1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 2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𝒇</m:t>
                        </m:r>
                      </m:e>
                      <m:sub>
                        <m:r>
                          <a:rPr lang="de-DE" b="1" i="1" smtClean="0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𝟐</m:t>
                        </m:r>
                      </m:sub>
                      <m:sup>
                        <m:r>
                          <a:rPr lang="de-DE" b="1" i="1" smtClean="0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′</m:t>
                        </m:r>
                      </m:sup>
                    </m:sSubSup>
                    <m:r>
                      <a:rPr lang="en-US" b="1" i="1">
                        <a:solidFill>
                          <a:srgbClr val="C71045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(</m:t>
                    </m:r>
                    <m:r>
                      <a:rPr lang="en-US" b="1" i="1">
                        <a:solidFill>
                          <a:srgbClr val="C71045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  <m:r>
                      <a:rPr lang="en-US" b="1" i="1" smtClean="0">
                        <a:solidFill>
                          <a:srgbClr val="C71045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)</m:t>
                    </m:r>
                    <m:r>
                      <a:rPr lang="en-US" i="1">
                        <a:solidFill>
                          <a:srgbClr val="C71045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 =</m:t>
                    </m:r>
                    <m:r>
                      <a:rPr lang="de-DE" b="0" i="1" smtClean="0">
                        <a:solidFill>
                          <a:srgbClr val="C71045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2</m:t>
                    </m:r>
                  </m:oMath>
                </a14:m>
                <a:r>
                  <a:rPr lang="en-US" dirty="0">
                    <a:solidFill>
                      <a:srgbClr val="C71045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73F023E5-2C51-45F1-8725-D2951E604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77" y="2828835"/>
                <a:ext cx="3427028" cy="2585323"/>
              </a:xfrm>
              <a:prstGeom prst="rect">
                <a:avLst/>
              </a:prstGeom>
              <a:blipFill>
                <a:blip r:embed="rId3"/>
                <a:stretch>
                  <a:fillRect l="-1476" t="-976" r="-369" b="-14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9ADD1260-D6EE-4B6D-A13D-A79D6651479C}"/>
                  </a:ext>
                </a:extLst>
              </p:cNvPr>
              <p:cNvSpPr/>
              <p:nvPr/>
            </p:nvSpPr>
            <p:spPr>
              <a:xfrm>
                <a:off x="150484" y="1002695"/>
                <a:ext cx="6096000" cy="66441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𝒇</m:t>
                    </m:r>
                    <m:d>
                      <m:d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d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𝒙</m:t>
                        </m:r>
                      </m:e>
                    </m:d>
                    <m:r>
                      <a:rPr lang="en-US" i="1">
                        <a:solidFill>
                          <a:srgbClr val="1D1D1F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solidFill>
                              <a:srgbClr val="1D1D1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1D1D1F"/>
                                </a:solidFill>
                                <a:latin typeface="Cambria Math" panose="02040503050406030204" pitchFamily="18" charset="0"/>
                                <a:ea typeface="Cambria" pitchFamily="34" charset="-122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de-DE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𝑓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ü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𝑟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 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≤1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2</m:t>
                              </m:r>
                              <m:r>
                                <a:rPr lang="de-DE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𝑓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ü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𝑟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 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&gt;1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  <m:r>
                          <a:rPr lang="de-DE" b="0" i="1" smtClean="0">
                            <a:solidFill>
                              <a:srgbClr val="1D1D1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9ADD1260-D6EE-4B6D-A13D-A79D665147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84" y="1002695"/>
                <a:ext cx="6096000" cy="664413"/>
              </a:xfrm>
              <a:prstGeom prst="rect">
                <a:avLst/>
              </a:prstGeom>
              <a:blipFill>
                <a:blip r:embed="rId4"/>
                <a:stretch>
                  <a:fillRect l="-1455" t="-148148" b="-22037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Image 1">
            <a:extLst>
              <a:ext uri="{FF2B5EF4-FFF2-40B4-BE49-F238E27FC236}">
                <a16:creationId xmlns:a16="http://schemas.microsoft.com/office/drawing/2014/main" id="{5534F654-3575-4D6F-B8FE-224ADB6199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56713" y="952292"/>
            <a:ext cx="4478573" cy="3018890"/>
          </a:xfrm>
          <a:prstGeom prst="rect">
            <a:avLst/>
          </a:prstGeom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00A018A0-A637-FEBD-C7EE-85217732A963}"/>
              </a:ext>
            </a:extLst>
          </p:cNvPr>
          <p:cNvGrpSpPr/>
          <p:nvPr/>
        </p:nvGrpSpPr>
        <p:grpSpPr>
          <a:xfrm>
            <a:off x="362277" y="5700893"/>
            <a:ext cx="4572000" cy="685800"/>
            <a:chOff x="362277" y="5700893"/>
            <a:chExt cx="4572000" cy="685800"/>
          </a:xfrm>
        </p:grpSpPr>
        <p:sp>
          <p:nvSpPr>
            <p:cNvPr id="53" name="Shape 12">
              <a:extLst>
                <a:ext uri="{FF2B5EF4-FFF2-40B4-BE49-F238E27FC236}">
                  <a16:creationId xmlns:a16="http://schemas.microsoft.com/office/drawing/2014/main" id="{E5B1304A-C64A-44A4-A24B-4FF4D8FEE252}"/>
                </a:ext>
              </a:extLst>
            </p:cNvPr>
            <p:cNvSpPr/>
            <p:nvPr/>
          </p:nvSpPr>
          <p:spPr>
            <a:xfrm>
              <a:off x="362277" y="5700893"/>
              <a:ext cx="4572000" cy="685800"/>
            </a:xfrm>
            <a:prstGeom prst="roundRect">
              <a:avLst>
                <a:gd name="adj" fmla="val 8000"/>
              </a:avLst>
            </a:prstGeom>
            <a:solidFill>
              <a:srgbClr val="E8F5E9"/>
            </a:solidFill>
            <a:ln w="1270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de-DE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 13">
                  <a:extLst>
                    <a:ext uri="{FF2B5EF4-FFF2-40B4-BE49-F238E27FC236}">
                      <a16:creationId xmlns:a16="http://schemas.microsoft.com/office/drawing/2014/main" id="{F1D386C6-0D7A-4B1F-8C32-857E8CABB844}"/>
                    </a:ext>
                  </a:extLst>
                </p:cNvPr>
                <p:cNvSpPr/>
                <p:nvPr/>
              </p:nvSpPr>
              <p:spPr>
                <a:xfrm>
                  <a:off x="526869" y="5700893"/>
                  <a:ext cx="4297680" cy="6858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14:m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𝒇</m:t>
                      </m:r>
                      <m:r>
                        <a:rPr lang="de-DE" sz="1500" b="1" i="1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′</m:t>
                      </m:r>
                      <m:r>
                        <a:rPr lang="en-US" sz="1500" b="1" i="1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₁(</m:t>
                      </m:r>
                      <m:r>
                        <a:rPr lang="en-US" sz="1500" b="1" i="1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𝟏</m:t>
                      </m:r>
                      <m:r>
                        <a:rPr lang="en-US" sz="1500" b="1" i="1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) = </m:t>
                      </m:r>
                      <m:r>
                        <a:rPr lang="en-US" sz="1500" b="1" i="1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𝒇</m:t>
                      </m:r>
                      <m:r>
                        <a:rPr lang="de-DE" sz="1500" b="1" i="1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′</m:t>
                      </m:r>
                      <m:r>
                        <a:rPr lang="en-US" sz="1500" b="1" i="1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₂(</m:t>
                      </m:r>
                      <m:r>
                        <a:rPr lang="en-US" sz="1500" b="1" i="1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𝟏</m:t>
                      </m:r>
                      <m:r>
                        <a:rPr lang="en-US" sz="1500" b="1" i="1" smtClean="0">
                          <a:solidFill>
                            <a:srgbClr val="1B5E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)   </m:t>
                      </m:r>
                    </m:oMath>
                  </a14:m>
                  <a:r>
                    <a:rPr lang="en-US" sz="1500" b="1" dirty="0">
                      <a:solidFill>
                        <a:srgbClr val="1B5E20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→  kein Knick  </a:t>
                  </a:r>
                  <a:r>
                    <a:rPr lang="en-US" sz="1500" i="1" dirty="0">
                      <a:solidFill>
                        <a:srgbClr val="1B5E20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(differenzierbar)</a:t>
                  </a:r>
                  <a:endParaRPr lang="en-US" sz="1500" dirty="0"/>
                </a:p>
              </p:txBody>
            </p:sp>
          </mc:Choice>
          <mc:Fallback>
            <p:sp>
              <p:nvSpPr>
                <p:cNvPr id="54" name="Text 13">
                  <a:extLst>
                    <a:ext uri="{FF2B5EF4-FFF2-40B4-BE49-F238E27FC236}">
                      <a16:creationId xmlns:a16="http://schemas.microsoft.com/office/drawing/2014/main" id="{F1D386C6-0D7A-4B1F-8C32-857E8CABB8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69" y="5700893"/>
                  <a:ext cx="4297680" cy="685800"/>
                </a:xfrm>
                <a:prstGeom prst="rect">
                  <a:avLst/>
                </a:prstGeom>
                <a:blipFill>
                  <a:blip r:embed="rId6"/>
                  <a:stretch>
                    <a:fillRect l="-2065"/>
                  </a:stretch>
                </a:blipFill>
                <a:ln/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7336BEE5-89A5-E447-7587-B2C65C0223D5}"/>
              </a:ext>
            </a:extLst>
          </p:cNvPr>
          <p:cNvGrpSpPr/>
          <p:nvPr/>
        </p:nvGrpSpPr>
        <p:grpSpPr>
          <a:xfrm>
            <a:off x="8521076" y="998697"/>
            <a:ext cx="3520440" cy="3200400"/>
            <a:chOff x="8275320" y="1143000"/>
            <a:chExt cx="3520440" cy="3200400"/>
          </a:xfrm>
        </p:grpSpPr>
        <p:sp>
          <p:nvSpPr>
            <p:cNvPr id="6" name="Shape 14">
              <a:extLst>
                <a:ext uri="{FF2B5EF4-FFF2-40B4-BE49-F238E27FC236}">
                  <a16:creationId xmlns:a16="http://schemas.microsoft.com/office/drawing/2014/main" id="{994301A7-D32C-20AB-CAA3-57FC8AF66045}"/>
                </a:ext>
              </a:extLst>
            </p:cNvPr>
            <p:cNvSpPr/>
            <p:nvPr/>
          </p:nvSpPr>
          <p:spPr>
            <a:xfrm>
              <a:off x="8275320" y="1143000"/>
              <a:ext cx="3520440" cy="3200400"/>
            </a:xfrm>
            <a:prstGeom prst="roundRect">
              <a:avLst>
                <a:gd name="adj" fmla="val 2286"/>
              </a:avLst>
            </a:prstGeom>
            <a:solidFill>
              <a:srgbClr val="FBEEF0"/>
            </a:solidFill>
            <a:ln w="12700">
              <a:solidFill>
                <a:srgbClr val="C8102E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9" name="Text 15">
              <a:extLst>
                <a:ext uri="{FF2B5EF4-FFF2-40B4-BE49-F238E27FC236}">
                  <a16:creationId xmlns:a16="http://schemas.microsoft.com/office/drawing/2014/main" id="{871130FB-A67E-BC29-EFC2-B6CF11E2017B}"/>
                </a:ext>
              </a:extLst>
            </p:cNvPr>
            <p:cNvSpPr/>
            <p:nvPr/>
          </p:nvSpPr>
          <p:spPr>
            <a:xfrm>
              <a:off x="8485632" y="1298448"/>
              <a:ext cx="3108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50" b="1" dirty="0">
                  <a:solidFill>
                    <a:srgbClr val="C8102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Bedingung (differenzierbar)</a:t>
              </a:r>
              <a:endParaRPr lang="en-US" sz="1450" dirty="0"/>
            </a:p>
          </p:txBody>
        </p:sp>
        <p:sp>
          <p:nvSpPr>
            <p:cNvPr id="10" name="Text 16">
              <a:extLst>
                <a:ext uri="{FF2B5EF4-FFF2-40B4-BE49-F238E27FC236}">
                  <a16:creationId xmlns:a16="http://schemas.microsoft.com/office/drawing/2014/main" id="{B4D2CAAE-5B34-7DAB-3097-6D8B8600BCF7}"/>
                </a:ext>
              </a:extLst>
            </p:cNvPr>
            <p:cNvSpPr/>
            <p:nvPr/>
          </p:nvSpPr>
          <p:spPr>
            <a:xfrm>
              <a:off x="8485632" y="1783080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1. stetig?</a:t>
              </a:r>
              <a:r>
                <a:rPr lang="en-US" sz="1400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  f₁(x₀) = f₂(x₀)</a:t>
              </a:r>
              <a:endParaRPr lang="en-US" sz="1400" dirty="0"/>
            </a:p>
          </p:txBody>
        </p:sp>
        <p:sp>
          <p:nvSpPr>
            <p:cNvPr id="11" name="Text 17">
              <a:extLst>
                <a:ext uri="{FF2B5EF4-FFF2-40B4-BE49-F238E27FC236}">
                  <a16:creationId xmlns:a16="http://schemas.microsoft.com/office/drawing/2014/main" id="{8F7504BB-3A7A-5153-BB75-C69F12CDEB90}"/>
                </a:ext>
              </a:extLst>
            </p:cNvPr>
            <p:cNvSpPr/>
            <p:nvPr/>
          </p:nvSpPr>
          <p:spPr>
            <a:xfrm>
              <a:off x="8485632" y="2286000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2. gleiche Steigung?</a:t>
              </a:r>
              <a:endParaRPr lang="en-US" sz="1400" dirty="0"/>
            </a:p>
          </p:txBody>
        </p:sp>
        <p:sp>
          <p:nvSpPr>
            <p:cNvPr id="12" name="Text 18">
              <a:extLst>
                <a:ext uri="{FF2B5EF4-FFF2-40B4-BE49-F238E27FC236}">
                  <a16:creationId xmlns:a16="http://schemas.microsoft.com/office/drawing/2014/main" id="{3DBC6055-B6B6-4055-6E8D-FF9579B80C3F}"/>
                </a:ext>
              </a:extLst>
            </p:cNvPr>
            <p:cNvSpPr/>
            <p:nvPr/>
          </p:nvSpPr>
          <p:spPr>
            <a:xfrm>
              <a:off x="8686800" y="2651760"/>
              <a:ext cx="30175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f₁′(x₀) = f₂′(x₀)</a:t>
              </a:r>
              <a:endParaRPr lang="en-US" sz="1500" dirty="0"/>
            </a:p>
          </p:txBody>
        </p:sp>
        <p:sp>
          <p:nvSpPr>
            <p:cNvPr id="13" name="Text 19">
              <a:extLst>
                <a:ext uri="{FF2B5EF4-FFF2-40B4-BE49-F238E27FC236}">
                  <a16:creationId xmlns:a16="http://schemas.microsoft.com/office/drawing/2014/main" id="{5A544452-9EA9-68FF-497A-43AC241B2390}"/>
                </a:ext>
              </a:extLst>
            </p:cNvPr>
            <p:cNvSpPr/>
            <p:nvPr/>
          </p:nvSpPr>
          <p:spPr>
            <a:xfrm>
              <a:off x="8485632" y="3200400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beides erfüllt  →  </a:t>
              </a:r>
              <a:r>
                <a:rPr lang="en-US" sz="1350" b="1" dirty="0">
                  <a:solidFill>
                    <a:srgbClr val="1B5E2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differenzierbar</a:t>
              </a:r>
              <a:endParaRPr lang="en-US" sz="1350" dirty="0"/>
            </a:p>
          </p:txBody>
        </p:sp>
        <p:sp>
          <p:nvSpPr>
            <p:cNvPr id="15" name="Text 20">
              <a:extLst>
                <a:ext uri="{FF2B5EF4-FFF2-40B4-BE49-F238E27FC236}">
                  <a16:creationId xmlns:a16="http://schemas.microsoft.com/office/drawing/2014/main" id="{36F51588-D699-D34E-768F-E0B13B3B77B2}"/>
                </a:ext>
              </a:extLst>
            </p:cNvPr>
            <p:cNvSpPr/>
            <p:nvPr/>
          </p:nvSpPr>
          <p:spPr>
            <a:xfrm>
              <a:off x="8485632" y="3611880"/>
              <a:ext cx="3200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50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sonst  →  </a:t>
              </a:r>
              <a:r>
                <a:rPr lang="en-US" sz="1350" b="1" dirty="0">
                  <a:solidFill>
                    <a:srgbClr val="B0002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Knick (nicht differenzierbar)</a:t>
              </a:r>
              <a:endParaRPr lang="en-US" sz="135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C3BE7FCE-D4A4-D3F5-338C-96D377EBA7F4}"/>
                  </a:ext>
                </a:extLst>
              </p:cNvPr>
              <p:cNvSpPr/>
              <p:nvPr/>
            </p:nvSpPr>
            <p:spPr>
              <a:xfrm>
                <a:off x="137397" y="1883670"/>
                <a:ext cx="6096000" cy="66441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𝒇</m:t>
                    </m:r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′</m:t>
                    </m:r>
                    <m:d>
                      <m:d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d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𝒙</m:t>
                        </m:r>
                      </m:e>
                    </m:d>
                    <m:r>
                      <a:rPr lang="en-US" i="1">
                        <a:solidFill>
                          <a:srgbClr val="1D1D1F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solidFill>
                              <a:srgbClr val="1D1D1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1D1D1F"/>
                                </a:solidFill>
                                <a:latin typeface="Cambria Math" panose="02040503050406030204" pitchFamily="18" charset="0"/>
                                <a:ea typeface="Cambria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de-DE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2</m:t>
                              </m:r>
                              <m:r>
                                <a:rPr lang="de-DE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𝑓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ü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𝑟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 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≤1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𝑓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ü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𝑟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 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&gt;1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  <m:r>
                          <a:rPr lang="de-DE" b="0" i="1" smtClean="0">
                            <a:solidFill>
                              <a:srgbClr val="1D1D1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C3BE7FCE-D4A4-D3F5-338C-96D377EBA7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97" y="1883670"/>
                <a:ext cx="6096000" cy="664413"/>
              </a:xfrm>
              <a:prstGeom prst="rect">
                <a:avLst/>
              </a:prstGeom>
              <a:blipFill>
                <a:blip r:embed="rId7"/>
                <a:stretch>
                  <a:fillRect l="-624" t="-154717" b="-22452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214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904AB-1E89-5CA4-72DC-A9F362C0F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2242C4D-65F1-3B81-50DF-5E55712DF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84" y="162170"/>
            <a:ext cx="5982346" cy="613501"/>
          </a:xfrm>
        </p:spPr>
        <p:txBody>
          <a:bodyPr>
            <a:normAutofit/>
          </a:bodyPr>
          <a:lstStyle/>
          <a:p>
            <a:pPr algn="l"/>
            <a:r>
              <a:rPr lang="de-DE" sz="23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Beispiel 2 – nicht differenzierbar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7A70D82F-1DA6-6029-551E-2B38A6E6680B}"/>
              </a:ext>
            </a:extLst>
          </p:cNvPr>
          <p:cNvCxnSpPr/>
          <p:nvPr/>
        </p:nvCxnSpPr>
        <p:spPr>
          <a:xfrm>
            <a:off x="150484" y="572027"/>
            <a:ext cx="11891032" cy="0"/>
          </a:xfrm>
          <a:prstGeom prst="line">
            <a:avLst/>
          </a:prstGeom>
          <a:ln w="12700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73C0A203-56AF-6B3A-989D-EDA054F67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424" y="122115"/>
            <a:ext cx="913092" cy="388581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8590E20E-024D-30C5-66E3-12F6EE7195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60524" y="4599935"/>
            <a:ext cx="3531476" cy="2201917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5DCC8BB-090F-BD3F-6C0D-249DF21CBE8F}"/>
              </a:ext>
            </a:extLst>
          </p:cNvPr>
          <p:cNvSpPr/>
          <p:nvPr/>
        </p:nvSpPr>
        <p:spPr>
          <a:xfrm>
            <a:off x="68580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00C33397-E6C2-9782-A4F5-C8AD82651BCA}"/>
              </a:ext>
            </a:extLst>
          </p:cNvPr>
          <p:cNvSpPr/>
          <p:nvPr/>
        </p:nvSpPr>
        <p:spPr>
          <a:xfrm>
            <a:off x="6858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481379B8-5D2A-BF5C-D5B9-7BA48AEAF838}"/>
                  </a:ext>
                </a:extLst>
              </p:cNvPr>
              <p:cNvSpPr txBox="1"/>
              <p:nvPr/>
            </p:nvSpPr>
            <p:spPr>
              <a:xfrm>
                <a:off x="362277" y="2828835"/>
                <a:ext cx="3427028" cy="2652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" pitchFamily="34" charset="-122"/>
                    <a:cs typeface="Cambria" pitchFamily="34" charset="-120"/>
                  </a:rPr>
                  <a:t>Nahtstelle: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b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𝒙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𝒐</m:t>
                        </m:r>
                      </m:sub>
                    </m:sSub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" pitchFamily="34" charset="-122"/>
                  <a:cs typeface="Cambria" pitchFamily="34" charset="-120"/>
                </a:endParaRPr>
              </a:p>
              <a:p>
                <a:endParaRPr lang="en-US" b="1" dirty="0">
                  <a:latin typeface="Cambria Math" panose="02040503050406030204" pitchFamily="18" charset="0"/>
                  <a:ea typeface="Cambria" pitchFamily="34" charset="-122"/>
                  <a:cs typeface="Cambria" pitchFamily="34" charset="-120"/>
                </a:endParaRPr>
              </a:p>
              <a:p>
                <a:pPr marL="342900" indent="-342900">
                  <a:buAutoNum type="arabicPeriod"/>
                </a:pPr>
                <a:r>
                  <a:rPr lang="en-US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" pitchFamily="34" charset="-122"/>
                    <a:cs typeface="Cambria" pitchFamily="34" charset="-120"/>
                  </a:rPr>
                  <a:t>stetig: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b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𝒇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d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𝟏</m:t>
                        </m:r>
                      </m:e>
                    </m:d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sSub>
                      <m:sSub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b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𝒇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d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𝟏</m:t>
                        </m:r>
                      </m:e>
                    </m:d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" pitchFamily="34" charset="-122"/>
                    <a:cs typeface="Cambria" pitchFamily="34" charset="-120"/>
                  </a:rPr>
                  <a:t>    </a:t>
                </a:r>
                <a:r>
                  <a:rPr lang="en-US" dirty="0">
                    <a:solidFill>
                      <a:srgbClr val="1D1D1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✓</a:t>
                </a:r>
              </a:p>
              <a:p>
                <a:pPr marL="342900" indent="-342900">
                  <a:buAutoNum type="arabicPeriod"/>
                </a:pPr>
                <a:endParaRPr lang="en-US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endParaRPr>
              </a:p>
              <a:p>
                <a:pPr marL="342900" indent="-342900">
                  <a:buAutoNum type="arabicPeriod"/>
                </a:pPr>
                <a:r>
                  <a:rPr lang="en-US" b="1" dirty="0">
                    <a:solidFill>
                      <a:srgbClr val="1D1D1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Ableitungen</a:t>
                </a:r>
                <a:endParaRPr lang="en-US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" pitchFamily="34" charset="-122"/>
                  <a:cs typeface="Cambria" pitchFamily="34" charset="-120"/>
                </a:endParaRPr>
              </a:p>
              <a:p>
                <a:endParaRPr lang="en-US" b="1" i="1" dirty="0">
                  <a:solidFill>
                    <a:srgbClr val="2E7D32"/>
                  </a:solidFill>
                  <a:latin typeface="Cambria Math" panose="02040503050406030204" pitchFamily="18" charset="0"/>
                  <a:ea typeface="Cambria" pitchFamily="34" charset="-122"/>
                  <a:cs typeface="Cambria" pitchFamily="34" charset="-120"/>
                </a:endParaRPr>
              </a:p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𝒇</m:t>
                    </m:r>
                    <m:r>
                      <a:rPr lang="de-DE" b="1" i="1" smtClean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′</m:t>
                    </m:r>
                    <m:r>
                      <a:rPr lang="en-US" b="1" i="1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₁(</m:t>
                    </m:r>
                    <m:r>
                      <a:rPr lang="en-US" b="1" i="1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  <m:r>
                      <a:rPr lang="en-US" b="1" i="1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) =2 </m:t>
                    </m:r>
                    <m:r>
                      <m:rPr>
                        <m:nor/>
                      </m:rPr>
                      <a:rPr lang="en-US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" pitchFamily="34" charset="0"/>
                        <a:ea typeface="Cambria" pitchFamily="34" charset="-122"/>
                        <a:cs typeface="Cambria" pitchFamily="34" charset="-120"/>
                      </a:rPr>
                      <m:t>·</m:t>
                    </m:r>
                    <m:r>
                      <m:rPr>
                        <m:nor/>
                      </m:rPr>
                      <a:rPr lang="de-DE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" pitchFamily="34" charset="0"/>
                        <a:ea typeface="Cambria" pitchFamily="34" charset="-122"/>
                        <a:cs typeface="Cambria" pitchFamily="34" charset="-120"/>
                      </a:rPr>
                      <m:t> 1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 2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1" i="1" smtClean="0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bPr>
                      <m:e>
                        <m:r>
                          <a:rPr lang="de-DE" b="1" i="1" smtClean="0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𝒇</m:t>
                        </m:r>
                        <m:r>
                          <a:rPr lang="de-DE" b="1" i="1" smtClean="0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′</m:t>
                        </m:r>
                      </m:e>
                      <m:sub>
                        <m:r>
                          <a:rPr lang="de-DE" b="1" i="1" smtClean="0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𝟏</m:t>
                        </m:r>
                      </m:e>
                    </m:d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r>
                      <a:rPr lang="de-DE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−2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481379B8-5D2A-BF5C-D5B9-7BA48AEAF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77" y="2828835"/>
                <a:ext cx="3427028" cy="2652136"/>
              </a:xfrm>
              <a:prstGeom prst="rect">
                <a:avLst/>
              </a:prstGeom>
              <a:blipFill>
                <a:blip r:embed="rId3"/>
                <a:stretch>
                  <a:fillRect l="-1476" t="-952" r="-36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73E11142-F6A1-DBFB-E7B9-9F6B3F57A986}"/>
                  </a:ext>
                </a:extLst>
              </p:cNvPr>
              <p:cNvSpPr/>
              <p:nvPr/>
            </p:nvSpPr>
            <p:spPr>
              <a:xfrm>
                <a:off x="150484" y="1002695"/>
                <a:ext cx="6679524" cy="6644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𝒇</m:t>
                    </m:r>
                    <m:d>
                      <m:d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d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𝒙</m:t>
                        </m:r>
                      </m:e>
                    </m:d>
                    <m:r>
                      <a:rPr lang="en-US" i="1">
                        <a:solidFill>
                          <a:srgbClr val="1D1D1F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solidFill>
                              <a:srgbClr val="1D1D1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1D1D1F"/>
                                </a:solidFill>
                                <a:latin typeface="Cambria Math" panose="02040503050406030204" pitchFamily="18" charset="0"/>
                                <a:ea typeface="Cambria" pitchFamily="34" charset="-122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de-DE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𝑓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ü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𝑟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 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≤1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−2</m:t>
                              </m:r>
                              <m:r>
                                <a:rPr lang="de-DE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+3</m:t>
                              </m:r>
                            </m:e>
                            <m:e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𝑓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ü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𝑟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 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&gt;1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  <m:r>
                          <a:rPr lang="de-DE" b="0" i="1" smtClean="0">
                            <a:solidFill>
                              <a:srgbClr val="1D1D1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73E11142-F6A1-DBFB-E7B9-9F6B3F57A9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84" y="1002695"/>
                <a:ext cx="6679524" cy="664413"/>
              </a:xfrm>
              <a:prstGeom prst="rect">
                <a:avLst/>
              </a:prstGeom>
              <a:blipFill>
                <a:blip r:embed="rId4"/>
                <a:stretch>
                  <a:fillRect l="-1331" t="-148148" b="-22037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Image 1">
            <a:extLst>
              <a:ext uri="{FF2B5EF4-FFF2-40B4-BE49-F238E27FC236}">
                <a16:creationId xmlns:a16="http://schemas.microsoft.com/office/drawing/2014/main" id="{46811D1B-6FFC-E46D-66B6-A59F36B5B5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15904" y="996011"/>
            <a:ext cx="4478573" cy="3018889"/>
          </a:xfrm>
          <a:prstGeom prst="rect">
            <a:avLst/>
          </a:prstGeom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1CDA9985-1FA2-63FD-02D9-2FE0C176F5D6}"/>
              </a:ext>
            </a:extLst>
          </p:cNvPr>
          <p:cNvGrpSpPr/>
          <p:nvPr/>
        </p:nvGrpSpPr>
        <p:grpSpPr>
          <a:xfrm>
            <a:off x="8521076" y="998697"/>
            <a:ext cx="3520440" cy="3200400"/>
            <a:chOff x="8275320" y="1143000"/>
            <a:chExt cx="3520440" cy="3200400"/>
          </a:xfrm>
        </p:grpSpPr>
        <p:sp>
          <p:nvSpPr>
            <p:cNvPr id="6" name="Shape 14">
              <a:extLst>
                <a:ext uri="{FF2B5EF4-FFF2-40B4-BE49-F238E27FC236}">
                  <a16:creationId xmlns:a16="http://schemas.microsoft.com/office/drawing/2014/main" id="{75D0AEF0-9A62-7536-C604-8A17CC222959}"/>
                </a:ext>
              </a:extLst>
            </p:cNvPr>
            <p:cNvSpPr/>
            <p:nvPr/>
          </p:nvSpPr>
          <p:spPr>
            <a:xfrm>
              <a:off x="8275320" y="1143000"/>
              <a:ext cx="3520440" cy="3200400"/>
            </a:xfrm>
            <a:prstGeom prst="roundRect">
              <a:avLst>
                <a:gd name="adj" fmla="val 2286"/>
              </a:avLst>
            </a:prstGeom>
            <a:solidFill>
              <a:srgbClr val="FBEEF0"/>
            </a:solidFill>
            <a:ln w="12700">
              <a:solidFill>
                <a:srgbClr val="C8102E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9" name="Text 15">
              <a:extLst>
                <a:ext uri="{FF2B5EF4-FFF2-40B4-BE49-F238E27FC236}">
                  <a16:creationId xmlns:a16="http://schemas.microsoft.com/office/drawing/2014/main" id="{5BD6F89E-EF96-48D2-1FB4-7250D6825C96}"/>
                </a:ext>
              </a:extLst>
            </p:cNvPr>
            <p:cNvSpPr/>
            <p:nvPr/>
          </p:nvSpPr>
          <p:spPr>
            <a:xfrm>
              <a:off x="8485632" y="1298448"/>
              <a:ext cx="3108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50" b="1" dirty="0">
                  <a:solidFill>
                    <a:srgbClr val="C8102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Bedingung (differenzierbar)</a:t>
              </a:r>
              <a:endParaRPr lang="en-US" sz="1450" dirty="0"/>
            </a:p>
          </p:txBody>
        </p:sp>
        <p:sp>
          <p:nvSpPr>
            <p:cNvPr id="10" name="Text 16">
              <a:extLst>
                <a:ext uri="{FF2B5EF4-FFF2-40B4-BE49-F238E27FC236}">
                  <a16:creationId xmlns:a16="http://schemas.microsoft.com/office/drawing/2014/main" id="{37F17484-807C-FA08-CBC9-F7CD8F409217}"/>
                </a:ext>
              </a:extLst>
            </p:cNvPr>
            <p:cNvSpPr/>
            <p:nvPr/>
          </p:nvSpPr>
          <p:spPr>
            <a:xfrm>
              <a:off x="8485632" y="1783080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1. stetig?</a:t>
              </a:r>
              <a:r>
                <a:rPr lang="en-US" sz="1400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  f₁(x₀) = f₂(x₀)</a:t>
              </a:r>
              <a:endParaRPr lang="en-US" sz="1400" dirty="0"/>
            </a:p>
          </p:txBody>
        </p:sp>
        <p:sp>
          <p:nvSpPr>
            <p:cNvPr id="11" name="Text 17">
              <a:extLst>
                <a:ext uri="{FF2B5EF4-FFF2-40B4-BE49-F238E27FC236}">
                  <a16:creationId xmlns:a16="http://schemas.microsoft.com/office/drawing/2014/main" id="{6CA7A0F3-EB86-83F1-5298-067D6F47F3CE}"/>
                </a:ext>
              </a:extLst>
            </p:cNvPr>
            <p:cNvSpPr/>
            <p:nvPr/>
          </p:nvSpPr>
          <p:spPr>
            <a:xfrm>
              <a:off x="8485632" y="2286000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2. gleiche Steigung?</a:t>
              </a:r>
              <a:endParaRPr lang="en-US" sz="1400" dirty="0"/>
            </a:p>
          </p:txBody>
        </p:sp>
        <p:sp>
          <p:nvSpPr>
            <p:cNvPr id="12" name="Text 18">
              <a:extLst>
                <a:ext uri="{FF2B5EF4-FFF2-40B4-BE49-F238E27FC236}">
                  <a16:creationId xmlns:a16="http://schemas.microsoft.com/office/drawing/2014/main" id="{DA3561A6-9623-60BB-CEBD-5F35DCCBCDC4}"/>
                </a:ext>
              </a:extLst>
            </p:cNvPr>
            <p:cNvSpPr/>
            <p:nvPr/>
          </p:nvSpPr>
          <p:spPr>
            <a:xfrm>
              <a:off x="8686800" y="2651760"/>
              <a:ext cx="30175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f₁′(x₀) = f₂′(x₀)</a:t>
              </a:r>
              <a:endParaRPr lang="en-US" sz="1500" dirty="0"/>
            </a:p>
          </p:txBody>
        </p:sp>
        <p:sp>
          <p:nvSpPr>
            <p:cNvPr id="13" name="Text 19">
              <a:extLst>
                <a:ext uri="{FF2B5EF4-FFF2-40B4-BE49-F238E27FC236}">
                  <a16:creationId xmlns:a16="http://schemas.microsoft.com/office/drawing/2014/main" id="{C5CF9533-F89C-BCBE-F59A-D02A789684AF}"/>
                </a:ext>
              </a:extLst>
            </p:cNvPr>
            <p:cNvSpPr/>
            <p:nvPr/>
          </p:nvSpPr>
          <p:spPr>
            <a:xfrm>
              <a:off x="8485632" y="3200400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beides erfüllt  →  </a:t>
              </a:r>
              <a:r>
                <a:rPr lang="en-US" sz="1350" b="1" dirty="0">
                  <a:solidFill>
                    <a:srgbClr val="1B5E2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differenzierbar</a:t>
              </a:r>
              <a:endParaRPr lang="en-US" sz="1350" dirty="0"/>
            </a:p>
          </p:txBody>
        </p:sp>
        <p:sp>
          <p:nvSpPr>
            <p:cNvPr id="15" name="Text 20">
              <a:extLst>
                <a:ext uri="{FF2B5EF4-FFF2-40B4-BE49-F238E27FC236}">
                  <a16:creationId xmlns:a16="http://schemas.microsoft.com/office/drawing/2014/main" id="{39E7721C-AE7E-943C-31D9-32DABAF7C198}"/>
                </a:ext>
              </a:extLst>
            </p:cNvPr>
            <p:cNvSpPr/>
            <p:nvPr/>
          </p:nvSpPr>
          <p:spPr>
            <a:xfrm>
              <a:off x="8485632" y="3611880"/>
              <a:ext cx="3200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50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sonst  →  </a:t>
              </a:r>
              <a:r>
                <a:rPr lang="en-US" sz="1350" b="1" dirty="0">
                  <a:solidFill>
                    <a:srgbClr val="B0002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Knick (nicht differenzierbar)</a:t>
              </a:r>
              <a:endParaRPr lang="en-US" sz="135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A2BD0D54-C3E6-B6D9-5264-7F9B20F512AC}"/>
                  </a:ext>
                </a:extLst>
              </p:cNvPr>
              <p:cNvSpPr/>
              <p:nvPr/>
            </p:nvSpPr>
            <p:spPr>
              <a:xfrm>
                <a:off x="137397" y="1883670"/>
                <a:ext cx="6096000" cy="66441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𝒇</m:t>
                    </m:r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′</m:t>
                    </m:r>
                    <m:d>
                      <m:d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d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𝒙</m:t>
                        </m:r>
                      </m:e>
                    </m:d>
                    <m:r>
                      <a:rPr lang="en-US" i="1">
                        <a:solidFill>
                          <a:srgbClr val="1D1D1F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solidFill>
                              <a:srgbClr val="1D1D1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1D1D1F"/>
                                </a:solidFill>
                                <a:latin typeface="Cambria Math" panose="02040503050406030204" pitchFamily="18" charset="0"/>
                                <a:ea typeface="Cambria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de-DE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2</m:t>
                              </m:r>
                              <m:r>
                                <a:rPr lang="de-DE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𝑓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ü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𝑟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 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≤1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𝑓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ü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𝑟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 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&gt;1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  <m:r>
                          <a:rPr lang="de-DE" b="0" i="1" smtClean="0">
                            <a:solidFill>
                              <a:srgbClr val="1D1D1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A2BD0D54-C3E6-B6D9-5264-7F9B20F512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97" y="1883670"/>
                <a:ext cx="6096000" cy="664413"/>
              </a:xfrm>
              <a:prstGeom prst="rect">
                <a:avLst/>
              </a:prstGeom>
              <a:blipFill>
                <a:blip r:embed="rId6"/>
                <a:stretch>
                  <a:fillRect l="-624" t="-154717" b="-22452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7443A317-DD31-E21C-B426-FC5091489DAE}"/>
              </a:ext>
            </a:extLst>
          </p:cNvPr>
          <p:cNvGrpSpPr/>
          <p:nvPr/>
        </p:nvGrpSpPr>
        <p:grpSpPr>
          <a:xfrm>
            <a:off x="362277" y="5648902"/>
            <a:ext cx="4572000" cy="685800"/>
            <a:chOff x="362277" y="5943073"/>
            <a:chExt cx="4572000" cy="685800"/>
          </a:xfrm>
        </p:grpSpPr>
        <p:sp>
          <p:nvSpPr>
            <p:cNvPr id="20" name="Shape 12">
              <a:extLst>
                <a:ext uri="{FF2B5EF4-FFF2-40B4-BE49-F238E27FC236}">
                  <a16:creationId xmlns:a16="http://schemas.microsoft.com/office/drawing/2014/main" id="{535A2BE8-5AB5-5D64-9C6D-E4DF2C340663}"/>
                </a:ext>
              </a:extLst>
            </p:cNvPr>
            <p:cNvSpPr/>
            <p:nvPr/>
          </p:nvSpPr>
          <p:spPr>
            <a:xfrm>
              <a:off x="362277" y="5943073"/>
              <a:ext cx="4572000" cy="685800"/>
            </a:xfrm>
            <a:prstGeom prst="roundRect">
              <a:avLst>
                <a:gd name="adj" fmla="val 8000"/>
              </a:avLst>
            </a:prstGeom>
            <a:solidFill>
              <a:srgbClr val="FDECEA"/>
            </a:solidFill>
            <a:ln w="12700">
              <a:solidFill>
                <a:srgbClr val="B00020"/>
              </a:solidFill>
              <a:prstDash val="solid"/>
            </a:ln>
          </p:spPr>
          <p:txBody>
            <a:bodyPr/>
            <a:lstStyle/>
            <a:p>
              <a:endParaRPr lang="de-DE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 13">
                  <a:extLst>
                    <a:ext uri="{FF2B5EF4-FFF2-40B4-BE49-F238E27FC236}">
                      <a16:creationId xmlns:a16="http://schemas.microsoft.com/office/drawing/2014/main" id="{5252486E-A3FE-8BEF-4498-33253A2C2E24}"/>
                    </a:ext>
                  </a:extLst>
                </p:cNvPr>
                <p:cNvSpPr/>
                <p:nvPr/>
              </p:nvSpPr>
              <p:spPr>
                <a:xfrm>
                  <a:off x="526869" y="5943073"/>
                  <a:ext cx="4297680" cy="6858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14:m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rgbClr val="B000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𝒇</m:t>
                      </m:r>
                      <m:r>
                        <a:rPr lang="de-DE" sz="1500" b="1" i="1" smtClean="0">
                          <a:solidFill>
                            <a:srgbClr val="B000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′</m:t>
                      </m:r>
                      <m:r>
                        <a:rPr lang="en-US" sz="1500" b="1" i="1" smtClean="0">
                          <a:solidFill>
                            <a:srgbClr val="B000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₁(</m:t>
                      </m:r>
                      <m:r>
                        <a:rPr lang="en-US" sz="1500" b="1" i="1" smtClean="0">
                          <a:solidFill>
                            <a:srgbClr val="B000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𝟏</m:t>
                      </m:r>
                      <m:r>
                        <a:rPr lang="en-US" sz="1500" b="1" i="1" smtClean="0">
                          <a:solidFill>
                            <a:srgbClr val="B000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) ≠ </m:t>
                      </m:r>
                      <m:r>
                        <a:rPr lang="en-US" sz="1500" b="1" i="1" smtClean="0">
                          <a:solidFill>
                            <a:srgbClr val="B000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𝒇</m:t>
                      </m:r>
                      <m:r>
                        <a:rPr lang="de-DE" sz="1500" b="1" i="1" smtClean="0">
                          <a:solidFill>
                            <a:srgbClr val="B000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′</m:t>
                      </m:r>
                      <m:r>
                        <a:rPr lang="en-US" sz="1500" b="1" i="1" smtClean="0">
                          <a:solidFill>
                            <a:srgbClr val="B000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₂(</m:t>
                      </m:r>
                      <m:r>
                        <a:rPr lang="en-US" sz="1500" b="1" i="1" smtClean="0">
                          <a:solidFill>
                            <a:srgbClr val="B000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𝟏</m:t>
                      </m:r>
                      <m:r>
                        <a:rPr lang="en-US" sz="1500" b="1" i="1" smtClean="0">
                          <a:solidFill>
                            <a:srgbClr val="B00020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)   </m:t>
                      </m:r>
                    </m:oMath>
                  </a14:m>
                  <a:r>
                    <a:rPr lang="en-US" sz="1500" b="1" dirty="0">
                      <a:solidFill>
                        <a:srgbClr val="B00020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→  Knick  </a:t>
                  </a:r>
                  <a:r>
                    <a:rPr lang="en-US" sz="1500" i="1" dirty="0">
                      <a:solidFill>
                        <a:srgbClr val="B00020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(nicht differenzierbar)</a:t>
                  </a:r>
                  <a:endParaRPr lang="en-US" sz="1500" dirty="0"/>
                </a:p>
              </p:txBody>
            </p:sp>
          </mc:Choice>
          <mc:Fallback>
            <p:sp>
              <p:nvSpPr>
                <p:cNvPr id="21" name="Text 13">
                  <a:extLst>
                    <a:ext uri="{FF2B5EF4-FFF2-40B4-BE49-F238E27FC236}">
                      <a16:creationId xmlns:a16="http://schemas.microsoft.com/office/drawing/2014/main" id="{5252486E-A3FE-8BEF-4498-33253A2C2E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69" y="5943073"/>
                  <a:ext cx="4297680" cy="685800"/>
                </a:xfrm>
                <a:prstGeom prst="rect">
                  <a:avLst/>
                </a:prstGeom>
                <a:blipFill>
                  <a:blip r:embed="rId7"/>
                  <a:stretch>
                    <a:fillRect l="-2065"/>
                  </a:stretch>
                </a:blipFill>
                <a:ln/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2557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4AD0-9866-B3B6-69B5-90C1B14E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2AB782B-CE69-19BB-DF4F-784CB2272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84" y="162170"/>
            <a:ext cx="5982346" cy="613501"/>
          </a:xfrm>
        </p:spPr>
        <p:txBody>
          <a:bodyPr>
            <a:normAutofit/>
          </a:bodyPr>
          <a:lstStyle/>
          <a:p>
            <a:pPr algn="l"/>
            <a:r>
              <a:rPr lang="de-DE" sz="23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Ein wichtiger Hinweis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9CED610-D4E9-20F7-6EE7-726901F219AF}"/>
              </a:ext>
            </a:extLst>
          </p:cNvPr>
          <p:cNvCxnSpPr/>
          <p:nvPr/>
        </p:nvCxnSpPr>
        <p:spPr>
          <a:xfrm>
            <a:off x="150484" y="572027"/>
            <a:ext cx="11891032" cy="0"/>
          </a:xfrm>
          <a:prstGeom prst="line">
            <a:avLst/>
          </a:prstGeom>
          <a:ln w="12700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220D7655-6591-9C17-FB75-8161B2E1B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424" y="122115"/>
            <a:ext cx="913092" cy="388581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FD8F9E12-D017-37D0-D353-AED454997C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60524" y="4599935"/>
            <a:ext cx="3531476" cy="2201917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7504E27-1AC9-4A71-99D6-886387B1D7CA}"/>
              </a:ext>
            </a:extLst>
          </p:cNvPr>
          <p:cNvSpPr/>
          <p:nvPr/>
        </p:nvSpPr>
        <p:spPr>
          <a:xfrm>
            <a:off x="68580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4B650F06-2C82-4F4C-A3D1-D86C0C3A3326}"/>
              </a:ext>
            </a:extLst>
          </p:cNvPr>
          <p:cNvSpPr/>
          <p:nvPr/>
        </p:nvSpPr>
        <p:spPr>
          <a:xfrm>
            <a:off x="6858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1E6359DD-EC6D-4040-A4CD-AA6817B89500}"/>
              </a:ext>
            </a:extLst>
          </p:cNvPr>
          <p:cNvSpPr/>
          <p:nvPr/>
        </p:nvSpPr>
        <p:spPr>
          <a:xfrm>
            <a:off x="150484" y="917201"/>
            <a:ext cx="10542398" cy="1600200"/>
          </a:xfrm>
          <a:prstGeom prst="roundRect">
            <a:avLst>
              <a:gd name="adj" fmla="val 3429"/>
            </a:avLst>
          </a:prstGeom>
          <a:solidFill>
            <a:srgbClr val="F6F1EA"/>
          </a:solidFill>
          <a:ln w="12700">
            <a:solidFill>
              <a:srgbClr val="D8CFC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556A072-E07B-4B60-AFA8-54E5A3A53C89}"/>
              </a:ext>
            </a:extLst>
          </p:cNvPr>
          <p:cNvSpPr/>
          <p:nvPr/>
        </p:nvSpPr>
        <p:spPr>
          <a:xfrm>
            <a:off x="343814" y="939549"/>
            <a:ext cx="10155737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Ganzrationale Funktionen</a:t>
            </a:r>
            <a:r>
              <a:rPr lang="en-US" sz="16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(Geraden, Parabeln, Funktionen 3. Grades …) sind </a:t>
            </a:r>
            <a:r>
              <a:rPr lang="en-US" sz="16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überall differenzierbar</a:t>
            </a:r>
            <a:r>
              <a:rPr lang="en-US" sz="16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</a:t>
            </a:r>
            <a:br>
              <a:rPr lang="en-US" sz="16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6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Knick kann nur an der Nahtstelle entstehen – dort genügt der Vergleich  </a:t>
            </a:r>
            <a:r>
              <a:rPr lang="en-US" sz="16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f₁′(x₀) = f₂′(x₀)</a:t>
            </a:r>
            <a:r>
              <a:rPr lang="en-US" sz="16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EE47DE85-7FED-2276-D2A0-2018E0E15A85}"/>
              </a:ext>
            </a:extLst>
          </p:cNvPr>
          <p:cNvSpPr/>
          <p:nvPr/>
        </p:nvSpPr>
        <p:spPr>
          <a:xfrm>
            <a:off x="150484" y="3017520"/>
            <a:ext cx="10542398" cy="1323080"/>
          </a:xfrm>
          <a:prstGeom prst="roundRect">
            <a:avLst>
              <a:gd name="adj" fmla="val 6667"/>
            </a:avLst>
          </a:prstGeom>
          <a:solidFill>
            <a:srgbClr val="E9F2FB"/>
          </a:solidFill>
          <a:ln w="12700">
            <a:solidFill>
              <a:srgbClr val="1D70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8091C77E-A958-6F78-B32C-3C70259FDB06}"/>
              </a:ext>
            </a:extLst>
          </p:cNvPr>
          <p:cNvSpPr/>
          <p:nvPr/>
        </p:nvSpPr>
        <p:spPr>
          <a:xfrm>
            <a:off x="343814" y="323582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50" b="1" dirty="0">
                <a:solidFill>
                  <a:srgbClr val="1D70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Ausblick: 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eine unstetige Funktion immer auch nicht differenzierbar ist, schauen wir uns in einem </a:t>
            </a:r>
            <a:r>
              <a:rPr lang="en-US" sz="155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separaten Video</a:t>
            </a:r>
            <a:r>
              <a:rPr lang="en-US" sz="155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2403598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Macintosh PowerPoint</Application>
  <PresentationFormat>Breitbild</PresentationFormat>
  <Paragraphs>68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5" baseType="lpstr">
      <vt:lpstr>Arial</vt:lpstr>
      <vt:lpstr>Arial Rounded MT Bold</vt:lpstr>
      <vt:lpstr>Bahnschrift</vt:lpstr>
      <vt:lpstr>Calibri</vt:lpstr>
      <vt:lpstr>Calibri Light</vt:lpstr>
      <vt:lpstr>Cambria</vt:lpstr>
      <vt:lpstr>Cambria Math</vt:lpstr>
      <vt:lpstr>Wingdings</vt:lpstr>
      <vt:lpstr>Office</vt:lpstr>
      <vt:lpstr>Differenzierbarkeit Wann verläuft ein Graph ohne Knick?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Matrizen</dc:title>
  <dc:creator>Olaf Kott</dc:creator>
  <cp:lastModifiedBy>Olaf Kott</cp:lastModifiedBy>
  <cp:revision>213</cp:revision>
  <dcterms:created xsi:type="dcterms:W3CDTF">2020-11-21T09:44:19Z</dcterms:created>
  <dcterms:modified xsi:type="dcterms:W3CDTF">2026-09-07T16:51:15Z</dcterms:modified>
</cp:coreProperties>
</file>