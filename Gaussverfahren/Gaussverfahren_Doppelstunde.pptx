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457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0" dirty="0">
                <a:solidFill>
                  <a:srgbClr val="C8102E">
                    <a:alpha val="40000"/>
                  </a:srgb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38000" dirty="0"/>
          </a:p>
        </p:txBody>
      </p:sp>
      <p:pic>
        <p:nvPicPr>
          <p:cNvPr id="3" name="Image 0" descr="rwb-logo-ahr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188720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Gaußverfahren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Lineare Gleichungssysteme händisch &amp; mit dem CAS lösen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Stundenverlauf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machen wir heute?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28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" name="Image 0" descr="rwb-logo-ahr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228600"/>
            <a:ext cx="9601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6537960"/>
            <a:ext cx="1124712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rwb. – Berufliches Gymnasium · Mathematik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6583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2 · Agenda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71600" y="1508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71600" y="18470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Funktion 3. Grades durch 4 Punkte – ein Problem!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2423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LGS aufstellen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71600" y="27614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Sachproblem zum Gleichungssystem (gemeinsam)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371600" y="3337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71600" y="36758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Gaußverfahren händisch &amp; mit CAS (Arbeitsblatt, selbstständig)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371600" y="4251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371600" y="45902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vergleichen, typische Stolpersteine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1371600" y="5166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Üben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371600" y="5504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Übungsblatt – LGS lösen und Funktionsgleichungen aufstellen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Einstiegsproblem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ganzrationale Funktion 3. Grades durch 4 Punkte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28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" name="Image 0" descr="rwb-logo-ahr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228600"/>
            <a:ext cx="9601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0" y="292608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0" y="292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rwb. – Berufliches Gymnasium · Mathematik 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6583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3 · Problemstellung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5943600" cy="5029200"/>
          </a:xfrm>
          <a:prstGeom prst="rect">
            <a:avLst/>
          </a:prstGeom>
          <a:solidFill>
            <a:srgbClr val="FF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280160"/>
            <a:ext cx="91440" cy="5029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Die Aufgabe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7240" y="18745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Gesucht ist eine ganzrationale Funktion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Grades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deren Graph durch die folgenden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Punkte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verläuft: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" y="292608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2926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" y="338328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383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(0 | 2)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103120" y="292608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03120" y="2926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103120" y="338328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03120" y="3383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 | 0)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429000" y="292608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29000" y="2926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P₃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429000" y="338328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3383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(2 | 0)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754880" y="292608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2926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P₄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754880" y="3383280"/>
            <a:ext cx="1325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3383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(3 | 8)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772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Bestimme die Funktionsgleichung f(x).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772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Erste Überlegungen: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77240" y="4983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lautet die allgemeine Form einer Funktion 3. Grades?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viele Unbekannte gibt es?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können wir die Information aus jedem Punkt nutzen?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766560" y="1280160"/>
            <a:ext cx="49377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66560" y="1353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55555"/>
                </a:solidFill>
              </a:rPr>
              <a:t>Die 4 Punkte im Koordinatensystem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620000" y="1737360"/>
            <a:ext cx="0" cy="411480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595360" y="1737360"/>
            <a:ext cx="0" cy="411480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570720" y="1737360"/>
            <a:ext cx="0" cy="411480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546080" y="1737360"/>
            <a:ext cx="0" cy="411480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521440" y="1737360"/>
            <a:ext cx="0" cy="411480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32320" y="5852160"/>
            <a:ext cx="438912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32320" y="5219114"/>
            <a:ext cx="438912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32320" y="4586068"/>
            <a:ext cx="438912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132320" y="3953022"/>
            <a:ext cx="438912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132320" y="3319975"/>
            <a:ext cx="438912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132320" y="2686929"/>
            <a:ext cx="438912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132320" y="2053883"/>
            <a:ext cx="438912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132320" y="4902591"/>
            <a:ext cx="438912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20000" y="1737360"/>
            <a:ext cx="0" cy="411480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1292840" y="4948311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x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7345680" y="1691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y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574280" y="4223825"/>
            <a:ext cx="91440" cy="914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549640" y="4856871"/>
            <a:ext cx="91440" cy="914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525000" y="4856871"/>
            <a:ext cx="91440" cy="914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500360" y="2324686"/>
            <a:ext cx="91440" cy="914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11440" y="4223825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</a:rPr>
              <a:t>P₁(0|2)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686800" y="4948311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</a:rPr>
              <a:t>P₂(1|0)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9662160" y="4948311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</a:rPr>
              <a:t>P₃(2|0)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585960" y="227896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</a:rPr>
              <a:t>P₄(3|8)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86384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8102E"/>
                </a:solidFill>
              </a:rPr>
              <a:t>f(x) = 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Ansatz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Allgemeine Funktion 3. Grades aufstellen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28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" name="Image 0" descr="rwb-logo-ahr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228600"/>
            <a:ext cx="9601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0" y="292608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0" y="292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rwb. – Berufliches Gymnasium · Mathematik 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6583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4 · Ansatz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71600" y="1463040"/>
            <a:ext cx="94183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155448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Allgemeine Form einer ganzrationalen Funktion 3. Grades: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a · x³ + b · x² + c · x + 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71600" y="3291840"/>
            <a:ext cx="941832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E6C2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00200" y="33832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Erkenntnis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00200" y="37033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Funktion hat </a:t>
            </a:r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Unbekannte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(die Koeffizienten </a:t>
            </a:r>
            <a:pPr indent="0" marL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c, d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brauchen also </a:t>
            </a:r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Gleichungen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um diese zu bestimmen — eine pro Punkt.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71600" y="4937760"/>
            <a:ext cx="9418320" cy="1280160"/>
          </a:xfrm>
          <a:prstGeom prst="rect">
            <a:avLst/>
          </a:prstGeom>
          <a:solidFill>
            <a:srgbClr val="FF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71600" y="4937760"/>
            <a:ext cx="91440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91640" y="5029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Frage an euch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91640" y="53492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können wir aus jedem Punkt eine Gleichung gewinnen?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691640" y="57607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Wir setzen die x- und y-Koordinaten in f(x) ein!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LGS aufstellen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jedem Punkt eine Gleichung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28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" name="Image 0" descr="rwb-logo-ahr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228600"/>
            <a:ext cx="9601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0" y="292608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0" y="292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rwb. – Berufliches Gymnasium · Mathematik 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6583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5 · LGS aufstellen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Punkt P(x | y) erfüllt:  f(x) = 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6032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Bedingung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89120" y="1691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Berechnung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2103120"/>
            <a:ext cx="2103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0" y="2103120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89120" y="2103120"/>
            <a:ext cx="7315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103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P₁(0 | 2)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560320" y="2103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f(0) = 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89120" y="21762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· 0³ + b · 0² + c · 0 + d = 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389120" y="2542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 = 2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57200" y="2971800"/>
            <a:ext cx="2103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60320" y="2971800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89120" y="2971800"/>
            <a:ext cx="7315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971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P₂(1 | 0)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560320" y="2971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f(1) = 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389120" y="30449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· 1³ + b · 1² + c · 1 + d = 0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389120" y="34107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+ b + c + d = 0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57200" y="3840480"/>
            <a:ext cx="2103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3840480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89120" y="3840480"/>
            <a:ext cx="7315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P₃(2 | 0)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2560320" y="3840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f(2) = 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389120" y="39136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· 2³ + b · 2² + c · 2 + d = 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389120" y="42793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8a + 4b + 2c + d = 0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457200" y="4709160"/>
            <a:ext cx="2103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560320" y="4709160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89120" y="4709160"/>
            <a:ext cx="7315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47091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P₄(3 | 8)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2560320" y="4709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f(3) = 8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389120" y="47823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· 3³ + b · 3² + c · 3 + d = 8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389120" y="5148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27a + 9b + 3c + d = 8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fett gedruckten Gleichungen ergeben unser </a:t>
            </a:r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lineares Gleichungssystem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(LGS) mit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Unbekannten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das lösen wir gleich mit dem </a:t>
            </a:r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Gaußverfahren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Arbeitsauftrag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seid ihr dran!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28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" name="Image 0" descr="rwb-logo-ahr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228600"/>
            <a:ext cx="9601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0" y="292608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0" y="292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rwb. – Berufliches Gymnasium · Mathematik 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6583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6 · Arbeitsauftrag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solidFill>
            <a:srgbClr val="FF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Euer Auftrag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2011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Löst das LGS aus dem Einstiegsproblem mit dem </a:t>
            </a:r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Gaußverfahren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sowohl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händisch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auch mit dem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2834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 ihr vor: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54480" y="3310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Nehmt euch das Arbeitsblatt zum Gaußverfahren.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54480" y="39959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1: LGS mit dem CAS lösen (QR-Code → Video).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4400" y="466344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54480" y="4681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2: LGS händisch mit Gauß lösen (QR-Code → Video).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7240" y="5532120"/>
            <a:ext cx="1060704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E6C2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5532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Tipp: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am Ende eure beiden Lösungen — sie müssen übereinstimmen.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 wir unsere Ergebnisse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228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" name="Image 0" descr="rwb-logo-ahr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228600"/>
            <a:ext cx="9601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18320" y="292608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0" y="2926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6537960"/>
            <a:ext cx="1124712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rwb. – Berufliches Gymnasium · Mathematik 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6583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7 · Sicherung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LGS: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6916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(I)        d = 2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(II)     a + b + c + d = 0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(III)   8a + 4b + 2c + d = 0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(IV) 27a + 9b + 3c + d = 8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Lösung: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54864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931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1   b = −2   c = −1   d = 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720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gesuchte Funktion: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5760720"/>
            <a:ext cx="54864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x³ − 2x² − x + 2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13533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55555"/>
                </a:solidFill>
              </a:rPr>
              <a:t>Graph von f(x) = x³ − 2x² − x + 2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94880" y="1737360"/>
            <a:ext cx="0" cy="429768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51520" y="1737360"/>
            <a:ext cx="0" cy="429768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08160" y="1737360"/>
            <a:ext cx="0" cy="429768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464800" y="1737360"/>
            <a:ext cx="0" cy="429768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521440" y="1737360"/>
            <a:ext cx="0" cy="429768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66560" y="6035040"/>
            <a:ext cx="475488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66560" y="5373858"/>
            <a:ext cx="475488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66560" y="4712677"/>
            <a:ext cx="475488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66560" y="4051495"/>
            <a:ext cx="475488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66560" y="3390314"/>
            <a:ext cx="475488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66560" y="2729132"/>
            <a:ext cx="475488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66560" y="2067951"/>
            <a:ext cx="475488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66560" y="5043268"/>
            <a:ext cx="475488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294880" y="1737360"/>
            <a:ext cx="0" cy="429768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292840" y="50889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x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020560" y="1691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766560" y="4423410"/>
            <a:ext cx="59436" cy="-2894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825996" y="4394470"/>
            <a:ext cx="59436" cy="-2197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885432" y="4372498"/>
            <a:ext cx="59436" cy="-15355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44868" y="4357143"/>
            <a:ext cx="59436" cy="-909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04304" y="4348051"/>
            <a:ext cx="59436" cy="-318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63740" y="4344868"/>
            <a:ext cx="59436" cy="2375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123176" y="4347243"/>
            <a:ext cx="59436" cy="757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182612" y="4354822"/>
            <a:ext cx="59436" cy="12429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242048" y="4367251"/>
            <a:ext cx="59436" cy="16927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301484" y="4384178"/>
            <a:ext cx="59436" cy="2107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60920" y="4405250"/>
            <a:ext cx="59436" cy="24864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420356" y="4430114"/>
            <a:ext cx="59436" cy="28303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479792" y="4458416"/>
            <a:ext cx="59436" cy="3138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539228" y="4489805"/>
            <a:ext cx="59436" cy="3412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598664" y="4523926"/>
            <a:ext cx="59436" cy="3650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658100" y="4560426"/>
            <a:ext cx="59436" cy="38527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717536" y="4598954"/>
            <a:ext cx="59436" cy="4020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776972" y="4639155"/>
            <a:ext cx="59436" cy="4152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836408" y="4680676"/>
            <a:ext cx="59436" cy="42489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895844" y="4723165"/>
            <a:ext cx="59436" cy="43104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955280" y="4766269"/>
            <a:ext cx="59436" cy="43365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014716" y="4809634"/>
            <a:ext cx="59436" cy="43274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074152" y="4852907"/>
            <a:ext cx="59436" cy="42829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133588" y="4895736"/>
            <a:ext cx="59436" cy="4203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193024" y="4937768"/>
            <a:ext cx="59436" cy="4088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252460" y="4978649"/>
            <a:ext cx="59436" cy="39377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311896" y="5018026"/>
            <a:ext cx="59436" cy="3752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371332" y="5055546"/>
            <a:ext cx="59436" cy="3531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430768" y="5090857"/>
            <a:ext cx="59436" cy="3274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490204" y="5123605"/>
            <a:ext cx="59436" cy="2983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549640" y="5153438"/>
            <a:ext cx="59436" cy="26564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609076" y="5180001"/>
            <a:ext cx="59436" cy="2294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68512" y="5202943"/>
            <a:ext cx="59436" cy="18967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727948" y="5221910"/>
            <a:ext cx="59436" cy="14639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87384" y="5236549"/>
            <a:ext cx="59436" cy="995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846820" y="5246507"/>
            <a:ext cx="59436" cy="4924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906256" y="5251431"/>
            <a:ext cx="59436" cy="-463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965692" y="5250969"/>
            <a:ext cx="59436" cy="-6203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025128" y="5244766"/>
            <a:ext cx="59436" cy="-12296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084564" y="5232470"/>
            <a:ext cx="59436" cy="-1874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144000" y="5213729"/>
            <a:ext cx="59436" cy="-2554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203436" y="5188188"/>
            <a:ext cx="59436" cy="-32693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262872" y="5155495"/>
            <a:ext cx="59436" cy="-4019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322308" y="5115297"/>
            <a:ext cx="59436" cy="-48056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9381744" y="5067241"/>
            <a:ext cx="59436" cy="-56267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441180" y="5010973"/>
            <a:ext cx="59436" cy="-6483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9500616" y="4946142"/>
            <a:ext cx="59436" cy="-73749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560052" y="4872393"/>
            <a:ext cx="59436" cy="-83019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619488" y="4789374"/>
            <a:ext cx="59436" cy="-9264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9678924" y="4696732"/>
            <a:ext cx="59436" cy="-102619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738360" y="4594113"/>
            <a:ext cx="59436" cy="-11294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797796" y="4481165"/>
            <a:ext cx="59436" cy="-12363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9857232" y="4357535"/>
            <a:ext cx="59436" cy="-134666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9916668" y="4222869"/>
            <a:ext cx="59436" cy="-146054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9976104" y="4076815"/>
            <a:ext cx="59436" cy="-157796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035540" y="3919019"/>
            <a:ext cx="59436" cy="-16989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0094976" y="3749129"/>
            <a:ext cx="59436" cy="-18233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0154412" y="3566791"/>
            <a:ext cx="59436" cy="-19513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0213848" y="3371653"/>
            <a:ext cx="59436" cy="-208292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0273284" y="3163361"/>
            <a:ext cx="59436" cy="-22179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0332720" y="2941563"/>
            <a:ext cx="59436" cy="-235658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0392156" y="2705905"/>
            <a:ext cx="59436" cy="-249871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0451592" y="2456034"/>
            <a:ext cx="59436" cy="-264436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511028" y="2191598"/>
            <a:ext cx="59436" cy="-279355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235444" y="4322650"/>
            <a:ext cx="118872" cy="1188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292084" y="4983832"/>
            <a:ext cx="118872" cy="1188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348724" y="4983832"/>
            <a:ext cx="118872" cy="1188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405364" y="2339106"/>
            <a:ext cx="118872" cy="1188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Gaußverfahren – Doppelstunde</dc:title>
  <dc:subject>PptxGenJS Presentation</dc:subject>
  <dc:creator>rwb. – Berufliches Gymnasium</dc:creator>
  <cp:lastModifiedBy>rwb. – Berufliches Gymnasium</cp:lastModifiedBy>
  <cp:revision>1</cp:revision>
  <dcterms:created xsi:type="dcterms:W3CDTF">2026-05-21T12:48:57Z</dcterms:created>
  <dcterms:modified xsi:type="dcterms:W3CDTF">2026-05-21T12:48:57Z</dcterms:modified>
</cp:coreProperties>
</file>